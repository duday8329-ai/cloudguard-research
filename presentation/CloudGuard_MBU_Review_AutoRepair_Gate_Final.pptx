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4638abfdb54d85" /><Relationship Type="http://schemas.openxmlformats.org/officeDocument/2006/relationships/extended-properties" Target="/docProps/app.xml" Id="R36d081fc1fb7408d" /><Relationship Type="http://schemas.openxmlformats.org/officeDocument/2006/relationships/officeDocument" Target="/ppt/presentation.xml" Id="Rb43f6e46cad14296" /></Relationships>
</file>

<file path=ppt/presentation.xml><?xml version="1.0" encoding="utf-8"?>
<p:presentation xmlns:p="http://schemas.openxmlformats.org/presentationml/2006/main">
  <p:sldMasterIdLst>
    <p:sldMasterId xmlns:r="http://schemas.openxmlformats.org/officeDocument/2006/relationships" id="2147483648" r:id="R9f21938580a44e00"/>
  </p:sldMasterIdLst>
  <p:notesMasterIdLst>
    <p:notesMasterId xmlns:r="http://schemas.openxmlformats.org/officeDocument/2006/relationships" r:id="R5cbf5ed69a3f4643"/>
  </p:notesMasterIdLst>
  <p:sldIdLst>
    <p:sldId xmlns:r="http://schemas.openxmlformats.org/officeDocument/2006/relationships" id="256" r:id="R97194f0d6ab74535"/>
    <p:sldId xmlns:r="http://schemas.openxmlformats.org/officeDocument/2006/relationships" id="257" r:id="R2ae9ff51b030426a"/>
    <p:sldId xmlns:r="http://schemas.openxmlformats.org/officeDocument/2006/relationships" id="258" r:id="R00ad708ade794a57"/>
    <p:sldId xmlns:r="http://schemas.openxmlformats.org/officeDocument/2006/relationships" id="259" r:id="R8da0a226ca324a05"/>
    <p:sldId xmlns:r="http://schemas.openxmlformats.org/officeDocument/2006/relationships" id="260" r:id="R6cab672a27c84ebb"/>
    <p:sldId xmlns:r="http://schemas.openxmlformats.org/officeDocument/2006/relationships" id="261" r:id="Re59f7514b6974874"/>
    <p:sldId xmlns:r="http://schemas.openxmlformats.org/officeDocument/2006/relationships" id="262" r:id="R9735b7481f144fbc"/>
    <p:sldId xmlns:r="http://schemas.openxmlformats.org/officeDocument/2006/relationships" id="263" r:id="R02364aba384b4cb3"/>
    <p:sldId xmlns:r="http://schemas.openxmlformats.org/officeDocument/2006/relationships" id="264" r:id="Ra3c4635f037b457c"/>
    <p:sldId xmlns:r="http://schemas.openxmlformats.org/officeDocument/2006/relationships" id="265" r:id="R09dd0ec56ae64a47"/>
    <p:sldId xmlns:r="http://schemas.openxmlformats.org/officeDocument/2006/relationships" id="266" r:id="R213fd9ada9684eb4"/>
    <p:sldId xmlns:r="http://schemas.openxmlformats.org/officeDocument/2006/relationships" id="267" r:id="R2cd218d7c2044b8f"/>
    <p:sldId xmlns:r="http://schemas.openxmlformats.org/officeDocument/2006/relationships" id="268" r:id="R68857539d0324e68"/>
    <p:sldId xmlns:r="http://schemas.openxmlformats.org/officeDocument/2006/relationships" id="269" r:id="R1681f77dbb784d13"/>
    <p:sldId xmlns:r="http://schemas.openxmlformats.org/officeDocument/2006/relationships" id="270" r:id="R4a12e02f83794b54"/>
    <p:sldId xmlns:r="http://schemas.openxmlformats.org/officeDocument/2006/relationships" id="271" r:id="R7e57d660959b4c04"/>
    <p:sldId xmlns:r="http://schemas.openxmlformats.org/officeDocument/2006/relationships" id="272" r:id="R0ce1a841cdd24b09"/>
    <p:sldId xmlns:r="http://schemas.openxmlformats.org/officeDocument/2006/relationships" id="273" r:id="R9b127fbbfcc84f5a"/>
    <p:sldId xmlns:r="http://schemas.openxmlformats.org/officeDocument/2006/relationships" id="274" r:id="R23fdca8055224867"/>
    <p:sldId xmlns:r="http://schemas.openxmlformats.org/officeDocument/2006/relationships" id="275" r:id="R3e129860056f424b"/>
    <p:sldId xmlns:r="http://schemas.openxmlformats.org/officeDocument/2006/relationships" id="276" r:id="R4edf4727b4204195"/>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59399a179d42c1" /><Relationship Type="http://schemas.openxmlformats.org/officeDocument/2006/relationships/slideMaster" Target="/ppt/slideMasters/slideMaster1.xml" Id="R9f21938580a44e00" /><Relationship Type="http://schemas.openxmlformats.org/officeDocument/2006/relationships/notesMaster" Target="/ppt/notesMasters/notesMaster1.xml" Id="R5cbf5ed69a3f4643" /><Relationship Type="http://schemas.openxmlformats.org/officeDocument/2006/relationships/presProps" Target="/ppt/presProps.xml" Id="Reb4561f2afdb4ca4" /><Relationship Type="http://schemas.openxmlformats.org/officeDocument/2006/relationships/viewProps" Target="/ppt/viewProps.xml" Id="R5bf66071cb6445e8" /><Relationship Type="http://schemas.openxmlformats.org/officeDocument/2006/relationships/tableStyles" Target="/ppt/tableStyles.xml" Id="R5391d74363a44ced" /><Relationship Type="http://schemas.openxmlformats.org/officeDocument/2006/relationships/slide" Target="/ppt/slides/slide1.xml" Id="R97194f0d6ab74535" /><Relationship Type="http://schemas.openxmlformats.org/officeDocument/2006/relationships/slide" Target="/ppt/slides/slide2.xml" Id="R2ae9ff51b030426a" /><Relationship Type="http://schemas.openxmlformats.org/officeDocument/2006/relationships/slide" Target="/ppt/slides/slide3.xml" Id="R00ad708ade794a57" /><Relationship Type="http://schemas.openxmlformats.org/officeDocument/2006/relationships/slide" Target="/ppt/slides/slide4.xml" Id="R8da0a226ca324a05" /><Relationship Type="http://schemas.openxmlformats.org/officeDocument/2006/relationships/slide" Target="/ppt/slides/slide5.xml" Id="R6cab672a27c84ebb" /><Relationship Type="http://schemas.openxmlformats.org/officeDocument/2006/relationships/slide" Target="/ppt/slides/slide6.xml" Id="Re59f7514b6974874" /><Relationship Type="http://schemas.openxmlformats.org/officeDocument/2006/relationships/slide" Target="/ppt/slides/slide7.xml" Id="R9735b7481f144fbc" /><Relationship Type="http://schemas.openxmlformats.org/officeDocument/2006/relationships/slide" Target="/ppt/slides/slide8.xml" Id="R02364aba384b4cb3" /><Relationship Type="http://schemas.openxmlformats.org/officeDocument/2006/relationships/slide" Target="/ppt/slides/slide9.xml" Id="Ra3c4635f037b457c" /><Relationship Type="http://schemas.openxmlformats.org/officeDocument/2006/relationships/slide" Target="/ppt/slides/slide10.xml" Id="R09dd0ec56ae64a47" /><Relationship Type="http://schemas.openxmlformats.org/officeDocument/2006/relationships/slide" Target="/ppt/slides/slide11.xml" Id="R213fd9ada9684eb4" /><Relationship Type="http://schemas.openxmlformats.org/officeDocument/2006/relationships/slide" Target="/ppt/slides/slide12.xml" Id="R2cd218d7c2044b8f" /><Relationship Type="http://schemas.openxmlformats.org/officeDocument/2006/relationships/slide" Target="/ppt/slides/slide13.xml" Id="R68857539d0324e68" /><Relationship Type="http://schemas.openxmlformats.org/officeDocument/2006/relationships/slide" Target="/ppt/slides/slide14.xml" Id="R1681f77dbb784d13" /><Relationship Type="http://schemas.openxmlformats.org/officeDocument/2006/relationships/slide" Target="/ppt/slides/slide15.xml" Id="R4a12e02f83794b54" /><Relationship Type="http://schemas.openxmlformats.org/officeDocument/2006/relationships/slide" Target="/ppt/slides/slide16.xml" Id="R7e57d660959b4c04" /><Relationship Type="http://schemas.openxmlformats.org/officeDocument/2006/relationships/slide" Target="/ppt/slides/slide17.xml" Id="R0ce1a841cdd24b09" /><Relationship Type="http://schemas.openxmlformats.org/officeDocument/2006/relationships/slide" Target="/ppt/slides/slide18.xml" Id="R9b127fbbfcc84f5a" /><Relationship Type="http://schemas.openxmlformats.org/officeDocument/2006/relationships/slide" Target="/ppt/slides/slide19.xml" Id="R23fdca8055224867" /><Relationship Type="http://schemas.openxmlformats.org/officeDocument/2006/relationships/slide" Target="/ppt/slides/slide20.xml" Id="R3e129860056f424b" /><Relationship Type="http://schemas.openxmlformats.org/officeDocument/2006/relationships/slide" Target="/ppt/slides/slide21.xml" Id="R4edf4727b42041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e8aa8b2ed84d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5279be4c59462d" /><Relationship Type="http://schemas.openxmlformats.org/officeDocument/2006/relationships/notesMaster" Target="/ppt/notesMasters/notesMaster1.xml" Id="R4a85d05d73314e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f5862567664b53" /><Relationship Type="http://schemas.openxmlformats.org/officeDocument/2006/relationships/notesMaster" Target="/ppt/notesMasters/notesMaster1.xml" Id="Re8b2bfc4532e4a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5c673e9e0b480b" /><Relationship Type="http://schemas.openxmlformats.org/officeDocument/2006/relationships/notesMaster" Target="/ppt/notesMasters/notesMaster1.xml" Id="R6567f7d48d3448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254cd30d19424f" /><Relationship Type="http://schemas.openxmlformats.org/officeDocument/2006/relationships/notesMaster" Target="/ppt/notesMasters/notesMaster1.xml" Id="Re53f6175a82b46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28dc6afd364e25" /><Relationship Type="http://schemas.openxmlformats.org/officeDocument/2006/relationships/notesMaster" Target="/ppt/notesMasters/notesMaster1.xml" Id="R7f86af0163ee43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b402c2870042c3" /><Relationship Type="http://schemas.openxmlformats.org/officeDocument/2006/relationships/notesMaster" Target="/ppt/notesMasters/notesMaster1.xml" Id="R76f4a9ceeae848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6ad944cf2e4ca2" /><Relationship Type="http://schemas.openxmlformats.org/officeDocument/2006/relationships/notesMaster" Target="/ppt/notesMasters/notesMaster1.xml" Id="Rc9b81c528f67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c50b8423c247c9" /><Relationship Type="http://schemas.openxmlformats.org/officeDocument/2006/relationships/notesMaster" Target="/ppt/notesMasters/notesMaster1.xml" Id="Rcc0b06afe05840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dccf9853f34522" /><Relationship Type="http://schemas.openxmlformats.org/officeDocument/2006/relationships/notesMaster" Target="/ppt/notesMasters/notesMaster1.xml" Id="R872253d3c1734a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5809832d9843a2" /><Relationship Type="http://schemas.openxmlformats.org/officeDocument/2006/relationships/notesMaster" Target="/ppt/notesMasters/notesMaster1.xml" Id="R8ffa80c24e234e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54665c091b4a64" /><Relationship Type="http://schemas.openxmlformats.org/officeDocument/2006/relationships/notesMaster" Target="/ppt/notesMasters/notesMaster1.xml" Id="Re9295a6e937447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1d2c70056347c4" /><Relationship Type="http://schemas.openxmlformats.org/officeDocument/2006/relationships/notesMaster" Target="/ppt/notesMasters/notesMaster1.xml" Id="Rcf8b6f7aaaad4f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9d81e8df7445c0" /><Relationship Type="http://schemas.openxmlformats.org/officeDocument/2006/relationships/notesMaster" Target="/ppt/notesMasters/notesMaster1.xml" Id="R1e99e3a248814e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f48d61ad7742d8" /><Relationship Type="http://schemas.openxmlformats.org/officeDocument/2006/relationships/notesMaster" Target="/ppt/notesMasters/notesMaster1.xml" Id="Rd3a4dd69437745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682466ed854d16" /><Relationship Type="http://schemas.openxmlformats.org/officeDocument/2006/relationships/notesMaster" Target="/ppt/notesMasters/notesMaster1.xml" Id="R8f6d5c7da1bd43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75eb172ea14394" /><Relationship Type="http://schemas.openxmlformats.org/officeDocument/2006/relationships/notesMaster" Target="/ppt/notesMasters/notesMaster1.xml" Id="R0c4e93e4e02647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fbbdd8d9be423b" /><Relationship Type="http://schemas.openxmlformats.org/officeDocument/2006/relationships/notesMaster" Target="/ppt/notesMasters/notesMaster1.xml" Id="R79d9b4c7034644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3731f68fd645de" /><Relationship Type="http://schemas.openxmlformats.org/officeDocument/2006/relationships/notesMaster" Target="/ppt/notesMasters/notesMaster1.xml" Id="Ra9ac6c895e4744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a76db46c2747ec" /><Relationship Type="http://schemas.openxmlformats.org/officeDocument/2006/relationships/notesMaster" Target="/ppt/notesMasters/notesMaster1.xml" Id="Ref3d70ac7f83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bf60d65518486d" /><Relationship Type="http://schemas.openxmlformats.org/officeDocument/2006/relationships/notesMaster" Target="/ppt/notesMasters/notesMaster1.xml" Id="R524f2e12c50c4f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514bfba1ca4647" /><Relationship Type="http://schemas.openxmlformats.org/officeDocument/2006/relationships/notesMaster" Target="/ppt/notesMasters/notesMaster1.xml" Id="R45d5ec2a1c9642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CloudGuard review deck. Automatic repair and deployment gating are implementation features; current conference evidence remains limited to the documented synthetic benchmark and smoke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bd5c4894c440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22528f428a4d9e" /><Relationship Type="http://schemas.openxmlformats.org/officeDocument/2006/relationships/image" Target="/ppt/media/image.png" Id="Rfc424cbc7d564a0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BE5CBE-E1A5-47B1-890A-8122AAC2AA81}"/>
              </a:ext>
            </a:extLst>
          </p:cNvPr>
          <p:cNvSpPr>
            <a:spLocks xmlns:a="http://schemas.openxmlformats.org/drawingml/2006/main" noGrp="1"/>
          </p:cNvSpPr>
          <p:nvPr>
            <p:ph type="ctrTitle" idx="0"/>
          </p:nvPr>
        </p:nvSpPr>
        <p:spPr>
          <a:xfrm xmlns:a="http://schemas.openxmlformats.org/drawingml/2006/main">
            <a:off x="685800" y="2130427"/>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9B63B9C-85FD-41C1-B8AF-4C0F666C7E1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AD3029-6F9B-4FB6-90C1-D4FD44EE6C0B}"/>
              </a:ext>
            </a:extLst>
          </p:cNvPr>
          <p:cNvSpPr>
            <a:spLocks xmlns:a="http://schemas.openxmlformats.org/drawingml/2006/main" noGrp="1"/>
          </p:cNvSpPr>
          <p:nvPr>
            <p:ph type="title" idx="0"/>
          </p:nvPr>
        </p:nvSpPr>
        <p:spPr>
          <a:xfrm xmlns:a="http://schemas.openxmlformats.org/drawingml/2006/main">
            <a:off x="457200" y="274640"/>
            <a:ext cx="8229600" cy="680485"/>
          </a:xfrm>
        </p:spPr>
        <p:txBody>
          <a:bodyPr xmlns:a="http://schemas.openxmlformats.org/drawingml/2006/main">
            <a:normAutofit/>
          </a:bodyPr>
          <a:lstStyle xmlns:a="http://schemas.openxmlformats.org/drawingml/2006/main">
            <a:lvl1pPr>
              <a:buNone/>
              <a:defRPr sz="2600" b="1">
                <a:solidFill>
                  <a:srgbClr val="00B050"/>
                </a:solidFill>
                <a:effectLst>
                  <a:outerShdw blurRad="38100" dist="38100" dir="2700000" algn="tl">
                    <a:srgbClr val="000000">
                      <a:alpha val="43137"/>
                    </a:srgbClr>
                  </a:outerShdw>
                </a:effectLst>
                <a:latin typeface="Tahoma"/>
                <a:ea typeface="Tahoma"/>
                <a:cs typeface="Tahoma"/>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5A5C84C-F6A0-4C16-A547-7B71C33A7143}"/>
              </a:ext>
            </a:extLst>
          </p:cNvPr>
          <p:cNvSpPr>
            <a:spLocks xmlns:a="http://schemas.openxmlformats.org/drawingml/2006/main" noGrp="1"/>
          </p:cNvSpPr>
          <p:nvPr>
            <p:ph idx="1"/>
          </p:nvPr>
        </p:nvSpPr>
        <p:spPr>
          <a:xfrm xmlns:a="http://schemas.openxmlformats.org/drawingml/2006/main">
            <a:off x="457200" y="1143002"/>
            <a:ext cx="8229600" cy="4983163"/>
          </a:xfrm>
        </p:spPr>
        <p:txBody>
          <a:bodyPr xmlns:a="http://schemas.openxmlformats.org/drawingml/2006/main">
            <a:normAutofit/>
          </a:bodyPr>
          <a:lstStyle xmlns:a="http://schemas.openxmlformats.org/drawingml/2006/main">
            <a:lvl1pPr algn="just">
              <a:lnSpc>
                <a:spcPct val="120000"/>
              </a:lnSpc>
              <a:spcBef>
                <a:spcPts val="0"/>
              </a:spcBef>
              <a:spcAft>
                <a:spcPts val="600"/>
              </a:spcAft>
              <a:buNone/>
              <a:defRPr sz="1800">
                <a:latin typeface="Tahoma"/>
                <a:ea typeface="Tahoma"/>
                <a:cs typeface="Tahoma"/>
              </a:defRPr>
            </a:lvl1pPr>
            <a:lvl2pPr algn="just">
              <a:lnSpc>
                <a:spcPct val="120000"/>
              </a:lnSpc>
              <a:spcBef>
                <a:spcPts val="0"/>
              </a:spcBef>
              <a:spcAft>
                <a:spcPts val="600"/>
              </a:spcAft>
              <a:buNone/>
              <a:defRPr sz="1800">
                <a:latin typeface="Tahoma"/>
                <a:ea typeface="Tahoma"/>
                <a:cs typeface="Tahoma"/>
              </a:defRPr>
            </a:lvl2pPr>
            <a:lvl3pPr algn="just">
              <a:lnSpc>
                <a:spcPct val="120000"/>
              </a:lnSpc>
              <a:spcBef>
                <a:spcPts val="0"/>
              </a:spcBef>
              <a:spcAft>
                <a:spcPts val="600"/>
              </a:spcAft>
              <a:buNone/>
              <a:defRPr sz="1800">
                <a:latin typeface="Tahoma"/>
                <a:ea typeface="Tahoma"/>
                <a:cs typeface="Tahoma"/>
              </a:defRPr>
            </a:lvl3pPr>
            <a:lvl4pPr algn="just">
              <a:lnSpc>
                <a:spcPct val="120000"/>
              </a:lnSpc>
              <a:spcBef>
                <a:spcPts val="0"/>
              </a:spcBef>
              <a:spcAft>
                <a:spcPts val="600"/>
              </a:spcAft>
              <a:buNone/>
              <a:defRPr sz="1800">
                <a:latin typeface="Tahoma"/>
                <a:ea typeface="Tahoma"/>
                <a:cs typeface="Tahoma"/>
              </a:defRPr>
            </a:lvl4pPr>
            <a:lvl5pPr algn="just">
              <a:lnSpc>
                <a:spcPct val="120000"/>
              </a:lnSpc>
              <a:spcBef>
                <a:spcPts val="0"/>
              </a:spcBef>
              <a:spcAft>
                <a:spcPts val="600"/>
              </a:spcAft>
              <a:buNone/>
              <a:defRPr sz="1800">
                <a:latin typeface="Tahoma"/>
                <a:ea typeface="Tahoma"/>
                <a:cs typeface="Tahoma"/>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traight Connector 8">
            <a:extLst xmlns:a="http://schemas.openxmlformats.org/drawingml/2006/main">
              <a:ext uri="{FF2B5EF4-FFF2-40B4-BE49-F238E27FC236}">
                <a16:creationId xmlns:a16="http://schemas.microsoft.com/office/drawing/2014/main" id="{73EDCBE8-2B2B-4DF2-9AA8-3CB577AC2998}"/>
              </a:ext>
            </a:extLst>
          </p:cNvPr>
          <p:cNvSpPr>
            <a:spLocks xmlns:a="http://schemas.openxmlformats.org/drawingml/2006/main" noGrp="1"/>
          </p:cNvSpPr>
          <p:nvPr/>
        </p:nvSpPr>
        <p:spPr>
          <a:xfrm xmlns:a="http://schemas.openxmlformats.org/drawingml/2006/main" rot="0" flipH="0" flipV="0">
            <a:off x="6873240" y="304800"/>
            <a:ext cx="2194560" cy="1588"/>
          </a:xfrm>
          <a:prstGeom xmlns:a="http://schemas.openxmlformats.org/drawingml/2006/main" prst="line">
            <a:avLst/>
          </a:prstGeom>
          <a:solidFill xmlns:a="http://schemas.openxmlformats.org/drawingml/2006/main">
            <a:schemeClr val="accent1"/>
          </a:solidFill>
          <a:ln xmlns:a="http://schemas.openxmlformats.org/drawingml/2006/main" w="28575">
            <a:solidFill>
              <a:srgbClr val="006600"/>
            </a:solidFill>
            <a:prstDash val="solid"/>
            <a:headEnd type="none" w="med" len="med"/>
            <a:tailEnd type="none" w="med" len="med"/>
          </a:ln>
        </p:spPr>
      </p:sp>
      <p:sp>
        <p:nvSpPr>
          <p:cNvPr id="10" name="Straight Connector 9">
            <a:extLst xmlns:a="http://schemas.openxmlformats.org/drawingml/2006/main">
              <a:ext uri="{FF2B5EF4-FFF2-40B4-BE49-F238E27FC236}">
                <a16:creationId xmlns:a16="http://schemas.microsoft.com/office/drawing/2014/main" id="{88748FD1-99D4-4C39-AB8C-A193213F05EE}"/>
              </a:ext>
            </a:extLst>
          </p:cNvPr>
          <p:cNvSpPr>
            <a:spLocks xmlns:a="http://schemas.openxmlformats.org/drawingml/2006/main" noGrp="1"/>
          </p:cNvSpPr>
          <p:nvPr/>
        </p:nvSpPr>
        <p:spPr>
          <a:xfrm xmlns:a="http://schemas.openxmlformats.org/drawingml/2006/main" rot="16200000" flipH="0" flipV="0">
            <a:off x="8457406" y="608806"/>
            <a:ext cx="914400" cy="1588"/>
          </a:xfrm>
          <a:prstGeom xmlns:a="http://schemas.openxmlformats.org/drawingml/2006/main" prst="line">
            <a:avLst/>
          </a:prstGeom>
          <a:solidFill xmlns:a="http://schemas.openxmlformats.org/drawingml/2006/main">
            <a:schemeClr val="accent1"/>
          </a:solidFill>
          <a:ln xmlns:a="http://schemas.openxmlformats.org/drawingml/2006/main" w="28575">
            <a:solidFill>
              <a:srgbClr val="006600"/>
            </a:solidFill>
            <a:prstDash val="solid"/>
            <a:headEnd type="none" w="med" len="med"/>
            <a:tailEnd type="none" w="med" len="med"/>
          </a:ln>
        </p:spPr>
      </p:sp>
      <p:sp>
        <p:nvSpPr>
          <p:cNvPr id="11" name="Straight Connector 10">
            <a:extLst xmlns:a="http://schemas.openxmlformats.org/drawingml/2006/main">
              <a:ext uri="{FF2B5EF4-FFF2-40B4-BE49-F238E27FC236}">
                <a16:creationId xmlns:a16="http://schemas.microsoft.com/office/drawing/2014/main" id="{4775ADA1-2FA7-422F-9B88-4D43F8D16C09}"/>
              </a:ext>
            </a:extLst>
          </p:cNvPr>
          <p:cNvSpPr>
            <a:spLocks xmlns:a="http://schemas.openxmlformats.org/drawingml/2006/main" noGrp="1"/>
          </p:cNvSpPr>
          <p:nvPr/>
        </p:nvSpPr>
        <p:spPr>
          <a:xfrm xmlns:a="http://schemas.openxmlformats.org/drawingml/2006/main" rot="16200000" flipH="0" flipV="0">
            <a:off x="8381206" y="685006"/>
            <a:ext cx="914400" cy="1588"/>
          </a:xfrm>
          <a:prstGeom xmlns:a="http://schemas.openxmlformats.org/drawingml/2006/main" prst="line">
            <a:avLst/>
          </a:prstGeom>
          <a:solidFill xmlns:a="http://schemas.openxmlformats.org/drawingml/2006/main">
            <a:schemeClr val="accent1"/>
          </a:solidFill>
          <a:ln xmlns:a="http://schemas.openxmlformats.org/drawingml/2006/main" w="12700">
            <a:solidFill>
              <a:srgbClr val="006600"/>
            </a:solidFill>
            <a:prstDash val="solid"/>
            <a:headEnd type="none" w="med" len="med"/>
            <a:tailEnd type="none" w="med" len="med"/>
          </a:ln>
          <a:effectLst xmlns:a="http://schemas.openxmlformats.org/drawingml/2006/main">
            <a:innerShdw blurRad="63500" dist="50800">
              <a:prstClr val="black">
                <a:alpha val="50000"/>
              </a:prstClr>
            </a:innerShdw>
          </a:effectLst>
        </p:spPr>
      </p:sp>
      <p:sp>
        <p:nvSpPr>
          <p:cNvPr id="12" name="Straight Connector 11">
            <a:extLst xmlns:a="http://schemas.openxmlformats.org/drawingml/2006/main">
              <a:ext uri="{FF2B5EF4-FFF2-40B4-BE49-F238E27FC236}">
                <a16:creationId xmlns:a16="http://schemas.microsoft.com/office/drawing/2014/main" id="{AB6B4A79-4971-4DF7-8DD5-B96ACAF127DC}"/>
              </a:ext>
            </a:extLst>
          </p:cNvPr>
          <p:cNvSpPr>
            <a:spLocks xmlns:a="http://schemas.openxmlformats.org/drawingml/2006/main" noGrp="1"/>
          </p:cNvSpPr>
          <p:nvPr/>
        </p:nvSpPr>
        <p:spPr>
          <a:xfrm xmlns:a="http://schemas.openxmlformats.org/drawingml/2006/main" rot="0" flipH="0" flipV="0">
            <a:off x="7010400" y="381000"/>
            <a:ext cx="2011680" cy="1588"/>
          </a:xfrm>
          <a:prstGeom xmlns:a="http://schemas.openxmlformats.org/drawingml/2006/main" prst="line">
            <a:avLst/>
          </a:prstGeom>
          <a:solidFill xmlns:a="http://schemas.openxmlformats.org/drawingml/2006/main">
            <a:schemeClr val="accent1"/>
          </a:solidFill>
          <a:ln xmlns:a="http://schemas.openxmlformats.org/drawingml/2006/main" w="12700">
            <a:solidFill>
              <a:srgbClr val="006600"/>
            </a:solidFill>
            <a:prstDash val="solid"/>
            <a:headEnd type="none" w="med" len="med"/>
            <a:tailEnd type="none" w="med" len="med"/>
          </a:ln>
          <a:effectLst xmlns:a="http://schemas.openxmlformats.org/drawingml/2006/main">
            <a:innerShdw blurRad="63500" dist="50800">
              <a:prstClr val="black">
                <a:alpha val="50000"/>
              </a:prstClr>
            </a:innerShdw>
          </a:effectLst>
        </p:spPr>
      </p:sp>
      <p:sp>
        <p:nvSpPr>
          <p:cNvPr id="13" name="Straight Connector 12">
            <a:extLst xmlns:a="http://schemas.openxmlformats.org/drawingml/2006/main">
              <a:ext uri="{FF2B5EF4-FFF2-40B4-BE49-F238E27FC236}">
                <a16:creationId xmlns:a16="http://schemas.microsoft.com/office/drawing/2014/main" id="{05938C7D-53EE-47C6-8A78-0BD7D8C70902}"/>
              </a:ext>
            </a:extLst>
          </p:cNvPr>
          <p:cNvSpPr>
            <a:spLocks xmlns:a="http://schemas.openxmlformats.org/drawingml/2006/main" noGrp="1"/>
          </p:cNvSpPr>
          <p:nvPr/>
        </p:nvSpPr>
        <p:spPr>
          <a:xfrm xmlns:a="http://schemas.openxmlformats.org/drawingml/2006/main" rot="5400000" flipH="0" flipV="0">
            <a:off x="-837406" y="5577046"/>
            <a:ext cx="2194560" cy="1588"/>
          </a:xfrm>
          <a:prstGeom xmlns:a="http://schemas.openxmlformats.org/drawingml/2006/main" prst="line">
            <a:avLst/>
          </a:prstGeom>
          <a:solidFill xmlns:a="http://schemas.openxmlformats.org/drawingml/2006/main">
            <a:schemeClr val="accent1"/>
          </a:solidFill>
          <a:ln xmlns:a="http://schemas.openxmlformats.org/drawingml/2006/main" w="28575">
            <a:solidFill>
              <a:srgbClr val="006600"/>
            </a:solidFill>
            <a:prstDash val="solid"/>
            <a:headEnd type="none" w="med" len="med"/>
            <a:tailEnd type="none" w="med" len="med"/>
          </a:ln>
        </p:spPr>
      </p:sp>
      <p:sp>
        <p:nvSpPr>
          <p:cNvPr id="14" name="Straight Connector 13">
            <a:extLst xmlns:a="http://schemas.openxmlformats.org/drawingml/2006/main">
              <a:ext uri="{FF2B5EF4-FFF2-40B4-BE49-F238E27FC236}">
                <a16:creationId xmlns:a16="http://schemas.microsoft.com/office/drawing/2014/main" id="{0A88DE8E-266D-47D3-9B7C-0C927763218D}"/>
              </a:ext>
            </a:extLst>
          </p:cNvPr>
          <p:cNvSpPr>
            <a:spLocks xmlns:a="http://schemas.openxmlformats.org/drawingml/2006/main" noGrp="1"/>
          </p:cNvSpPr>
          <p:nvPr/>
        </p:nvSpPr>
        <p:spPr>
          <a:xfrm xmlns:a="http://schemas.openxmlformats.org/drawingml/2006/main" rot="0" flipH="0" flipV="0">
            <a:off x="152400" y="6553200"/>
            <a:ext cx="914400" cy="1588"/>
          </a:xfrm>
          <a:prstGeom xmlns:a="http://schemas.openxmlformats.org/drawingml/2006/main" prst="line">
            <a:avLst/>
          </a:prstGeom>
          <a:solidFill xmlns:a="http://schemas.openxmlformats.org/drawingml/2006/main">
            <a:schemeClr val="accent1"/>
          </a:solidFill>
          <a:ln xmlns:a="http://schemas.openxmlformats.org/drawingml/2006/main" w="28575">
            <a:solidFill>
              <a:srgbClr val="006600"/>
            </a:solidFill>
            <a:prstDash val="solid"/>
            <a:headEnd type="none" w="med" len="med"/>
            <a:tailEnd type="none" w="med" len="med"/>
          </a:ln>
        </p:spPr>
      </p:sp>
      <p:sp>
        <p:nvSpPr>
          <p:cNvPr id="15" name="Straight Connector 14">
            <a:extLst xmlns:a="http://schemas.openxmlformats.org/drawingml/2006/main">
              <a:ext uri="{FF2B5EF4-FFF2-40B4-BE49-F238E27FC236}">
                <a16:creationId xmlns:a16="http://schemas.microsoft.com/office/drawing/2014/main" id="{3932BCA9-3206-47A8-BFFB-F37028C69D6A}"/>
              </a:ext>
            </a:extLst>
          </p:cNvPr>
          <p:cNvSpPr>
            <a:spLocks xmlns:a="http://schemas.openxmlformats.org/drawingml/2006/main" noGrp="1"/>
          </p:cNvSpPr>
          <p:nvPr/>
        </p:nvSpPr>
        <p:spPr>
          <a:xfrm xmlns:a="http://schemas.openxmlformats.org/drawingml/2006/main" rot="0" flipH="0" flipV="0">
            <a:off x="188259" y="6477000"/>
            <a:ext cx="914400" cy="1588"/>
          </a:xfrm>
          <a:prstGeom xmlns:a="http://schemas.openxmlformats.org/drawingml/2006/main" prst="line">
            <a:avLst/>
          </a:prstGeom>
          <a:solidFill xmlns:a="http://schemas.openxmlformats.org/drawingml/2006/main">
            <a:schemeClr val="accent1"/>
          </a:solidFill>
          <a:ln xmlns:a="http://schemas.openxmlformats.org/drawingml/2006/main" w="12700">
            <a:solidFill>
              <a:srgbClr val="006600"/>
            </a:solidFill>
            <a:prstDash val="solid"/>
            <a:headEnd type="none" w="med" len="med"/>
            <a:tailEnd type="none" w="med" len="med"/>
          </a:ln>
          <a:effectLst xmlns:a="http://schemas.openxmlformats.org/drawingml/2006/main">
            <a:innerShdw blurRad="63500" dist="50800">
              <a:prstClr val="black">
                <a:alpha val="50000"/>
              </a:prstClr>
            </a:innerShdw>
          </a:effectLst>
        </p:spPr>
      </p:sp>
      <p:sp>
        <p:nvSpPr>
          <p:cNvPr id="16" name="Straight Connector 15">
            <a:extLst xmlns:a="http://schemas.openxmlformats.org/drawingml/2006/main">
              <a:ext uri="{FF2B5EF4-FFF2-40B4-BE49-F238E27FC236}">
                <a16:creationId xmlns:a16="http://schemas.microsoft.com/office/drawing/2014/main" id="{E047BA39-5799-4D95-B05D-58DA7E1545CB}"/>
              </a:ext>
            </a:extLst>
          </p:cNvPr>
          <p:cNvSpPr>
            <a:spLocks xmlns:a="http://schemas.openxmlformats.org/drawingml/2006/main" noGrp="1"/>
          </p:cNvSpPr>
          <p:nvPr/>
        </p:nvSpPr>
        <p:spPr>
          <a:xfrm xmlns:a="http://schemas.openxmlformats.org/drawingml/2006/main" rot="5400000" flipH="0" flipV="0">
            <a:off x="-700246" y="5653246"/>
            <a:ext cx="2011680" cy="1588"/>
          </a:xfrm>
          <a:prstGeom xmlns:a="http://schemas.openxmlformats.org/drawingml/2006/main" prst="line">
            <a:avLst/>
          </a:prstGeom>
          <a:solidFill xmlns:a="http://schemas.openxmlformats.org/drawingml/2006/main">
            <a:schemeClr val="accent1"/>
          </a:solidFill>
          <a:ln xmlns:a="http://schemas.openxmlformats.org/drawingml/2006/main" w="12700">
            <a:solidFill>
              <a:srgbClr val="006600"/>
            </a:solidFill>
            <a:prstDash val="solid"/>
            <a:headEnd type="none" w="med" len="med"/>
            <a:tailEnd type="none" w="med" len="med"/>
          </a:ln>
          <a:effectLst xmlns:a="http://schemas.openxmlformats.org/drawingml/2006/main">
            <a:innerShdw blurRad="63500" dist="50800">
              <a:prstClr val="black">
                <a:alpha val="50000"/>
              </a:prstClr>
            </a:innerShdw>
          </a:effectLst>
        </p:spPr>
      </p:sp>
      <p:sp>
        <p:nvSpPr>
          <p:cNvPr id="21" name="Slide Number Placeholder 5">
            <a:extLst xmlns:a="http://schemas.openxmlformats.org/drawingml/2006/main">
              <a:ext uri="{FF2B5EF4-FFF2-40B4-BE49-F238E27FC236}">
                <a16:creationId xmlns:a16="http://schemas.microsoft.com/office/drawing/2014/main" id="{F2D0C18D-BF15-452F-9FE7-95411BCF5259}"/>
              </a:ext>
            </a:extLst>
          </p:cNvPr>
          <p:cNvSpPr>
            <a:spLocks xmlns:a="http://schemas.openxmlformats.org/drawingml/2006/main" noGrp="1"/>
          </p:cNvSpPr>
          <p:nvPr>
            <p:ph type="sldNum" idx="12"/>
          </p:nvPr>
        </p:nvSpPr>
        <p:spPr>
          <a:xfrm xmlns:a="http://schemas.openxmlformats.org/drawingml/2006/main">
            <a:off x="4648200" y="6266141"/>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600" b="1"/>
            </a:lvl1pPr>
          </a:lstStyle>
          <a:p xmlns:a="http://schemas.openxmlformats.org/drawingml/2006/main">
            <a:fld id="{B03FF234-8176-4A77-8F9A-3A491C5D5CBE}" type="slidenum">
              <a:t>‹#›</a:t>
            </a:fld>
            <a:endParaRPr/>
          </a:p>
        </p:txBody>
      </p:sp>
      <p:pic>
        <p:nvPicPr>
          <p:cNvPr id="4" name="Picture 3">
            <a:extLst xmlns:a="http://schemas.openxmlformats.org/drawingml/2006/main">
              <a:ext uri="{FF2B5EF4-FFF2-40B4-BE49-F238E27FC236}">
                <a16:creationId xmlns:a16="http://schemas.microsoft.com/office/drawing/2014/main" id="{FB4F0113-A7BB-4570-AB85-85FFBC89A3E8}"/>
              </a:ext>
            </a:extLst>
          </p:cNvPr>
          <p:cNvPicPr>
            <a:picLocks xmlns:a="http://schemas.openxmlformats.org/drawingml/2006/main" noChangeAspect="1"/>
          </p:cNvPicPr>
          <p:nvPr/>
        </p:nvPicPr>
        <p:blipFill>
          <a:blip xmlns:r="http://schemas.openxmlformats.org/officeDocument/2006/relationships" xmlns:a="http://schemas.openxmlformats.org/drawingml/2006/main" r:embed="Rfc424cbc7d564a0b"/>
          <a:srcRect xmlns:a="http://schemas.openxmlformats.org/drawingml/2006/main" l="0" t="0" r="0" b="0"/>
          <a:stretch xmlns:a="http://schemas.openxmlformats.org/drawingml/2006/main">
            <a:fillRect l="0" t="0" r="0" b="0"/>
          </a:stretch>
        </p:blipFill>
        <p:spPr>
          <a:xfrm xmlns:a="http://schemas.openxmlformats.org/drawingml/2006/main">
            <a:off x="7343453" y="5945103"/>
            <a:ext cx="1345573" cy="737877"/>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d8bd40ce2a40b3" /><Relationship Type="http://schemas.openxmlformats.org/officeDocument/2006/relationships/slideLayout" Target="/ppt/slideLayouts/slideLayout1.xml" Id="R8479a47202f04901" /><Relationship Type="http://schemas.openxmlformats.org/officeDocument/2006/relationships/slideLayout" Target="/ppt/slideLayouts/slideLayout2.xml" Id="Rf1674dcbcf134de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961B3FF-6919-4452-BC63-7885DA7759A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80E33E5-2035-4AF9-896C-A14CFCEE71BD}"/>
              </a:ext>
            </a:extLst>
          </p:cNvPr>
          <p:cNvSpPr>
            <a:spLocks xmlns:a="http://schemas.openxmlformats.org/drawingml/2006/main" noGrp="1"/>
          </p:cNvSpPr>
          <p:nvPr>
            <p:ph type="body" idx="1"/>
          </p:nvPr>
        </p:nvSpPr>
        <p:spPr>
          <a:xfrm xmlns:a="http://schemas.openxmlformats.org/drawingml/2006/main">
            <a:off x="457200" y="1600202"/>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79a47202f04901"/>
    <p:sldLayoutId xmlns:r="http://schemas.openxmlformats.org/officeDocument/2006/relationships" id="2147483650" r:id="Rf1674dcbcf134def"/>
  </p:sldLayoutIdLst>
  <p:hf hdr="0" dt="0"/>
  <p:txStyles>
    <p:titleStyle>
      <a:lvl1pPr xmlns:a="http://schemas.openxmlformats.org/drawingml/2006/main" algn="ctr" defTabSz="914400">
        <a:spcBef>
          <a:spcPct val="0"/>
        </a:spcBef>
        <a:buNone/>
        <a:defRPr sz="2600" b="1" kern="1200">
          <a:solidFill>
            <a:srgbClr val="007434"/>
          </a:solidFill>
          <a:latin typeface="Tahoma"/>
          <a:ea typeface="Tahoma"/>
          <a:cs typeface="Tahoma"/>
        </a:defRPr>
      </a:lvl1pPr>
    </p:titleStyle>
    <p:bodyStyle>
      <a:lvl1pPr xmlns:a="http://schemas.openxmlformats.org/drawingml/2006/main" marL="342900" indent="-342900" algn="l" defTabSz="914400">
        <a:spcBef>
          <a:spcPct val="20000"/>
        </a:spcBef>
        <a:buFont typeface="Arial"/>
        <a:buChar char="•"/>
        <a:defRPr sz="1800" kern="1200">
          <a:solidFill>
            <a:schemeClr val="tx1"/>
          </a:solidFill>
          <a:latin typeface="Tahoma"/>
          <a:ea typeface="Tahoma"/>
          <a:cs typeface="Tahoma"/>
        </a:defRPr>
      </a:lvl1pPr>
      <a:lvl2pPr xmlns:a="http://schemas.openxmlformats.org/drawingml/2006/main" marL="742950" indent="-285750" algn="l" defTabSz="914400">
        <a:spcBef>
          <a:spcPct val="20000"/>
        </a:spcBef>
        <a:buFont typeface="Arial"/>
        <a:buChar char="–"/>
        <a:defRPr sz="1800" kern="1200">
          <a:solidFill>
            <a:schemeClr val="tx1"/>
          </a:solidFill>
          <a:latin typeface="Tahoma"/>
          <a:ea typeface="Tahoma"/>
          <a:cs typeface="Tahoma"/>
        </a:defRPr>
      </a:lvl2pPr>
      <a:lvl3pPr xmlns:a="http://schemas.openxmlformats.org/drawingml/2006/main" marL="1143000" indent="-228600" algn="l" defTabSz="914400">
        <a:spcBef>
          <a:spcPct val="20000"/>
        </a:spcBef>
        <a:buFont typeface="Arial"/>
        <a:buChar char="•"/>
        <a:defRPr sz="1800" kern="1200">
          <a:solidFill>
            <a:schemeClr val="tx1"/>
          </a:solidFill>
          <a:latin typeface="Tahoma"/>
          <a:ea typeface="Tahoma"/>
          <a:cs typeface="Tahoma"/>
        </a:defRPr>
      </a:lvl3pPr>
      <a:lvl4pPr xmlns:a="http://schemas.openxmlformats.org/drawingml/2006/main" marL="1600200" indent="-228600" algn="l" defTabSz="914400">
        <a:spcBef>
          <a:spcPct val="20000"/>
        </a:spcBef>
        <a:buFont typeface="Arial"/>
        <a:buChar char="–"/>
        <a:defRPr sz="1800" kern="1200">
          <a:solidFill>
            <a:schemeClr val="tx1"/>
          </a:solidFill>
          <a:latin typeface="Tahoma"/>
          <a:ea typeface="Tahoma"/>
          <a:cs typeface="Tahoma"/>
        </a:defRPr>
      </a:lvl4pPr>
      <a:lvl5pPr xmlns:a="http://schemas.openxmlformats.org/drawingml/2006/main" marL="2057400" indent="-228600" algn="l" defTabSz="914400">
        <a:spcBef>
          <a:spcPct val="20000"/>
        </a:spcBef>
        <a:buFont typeface="Arial"/>
        <a:buChar char="»"/>
        <a:defRPr sz="1800" kern="1200">
          <a:solidFill>
            <a:schemeClr val="tx1"/>
          </a:solidFill>
          <a:latin typeface="Tahoma"/>
          <a:ea typeface="Tahoma"/>
          <a:cs typeface="Tahoma"/>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aa743837ac4346" /><Relationship Type="http://schemas.openxmlformats.org/officeDocument/2006/relationships/image" Target="/ppt/media/image.png" Id="R7ee0f3b5920b4f54" /><Relationship Type="http://schemas.openxmlformats.org/officeDocument/2006/relationships/notesSlide" Target="/ppt/notesSlides/notesSlide1.xml" Id="Rea54b34d474748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df86b0dd5c24aa0" /><Relationship Type="http://schemas.openxmlformats.org/officeDocument/2006/relationships/notesSlide" Target="/ppt/notesSlides/notesSlide2.xml" Id="R07013647b62c41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52cf36ac7624e05" /><Relationship Type="http://schemas.openxmlformats.org/officeDocument/2006/relationships/notesSlide" Target="/ppt/notesSlides/notesSlide3.xml" Id="R297d2229881f46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105766d39ae40b3" /><Relationship Type="http://schemas.openxmlformats.org/officeDocument/2006/relationships/notesSlide" Target="/ppt/notesSlides/notesSlide4.xml" Id="R76ebfe4824f742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04b193c7de24abb" /><Relationship Type="http://schemas.openxmlformats.org/officeDocument/2006/relationships/notesSlide" Target="/ppt/notesSlides/notesSlide5.xml" Id="Rf495020b90d34e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a8c7b968ab5425c" /><Relationship Type="http://schemas.openxmlformats.org/officeDocument/2006/relationships/notesSlide" Target="/ppt/notesSlides/notesSlide6.xml" Id="R0a089a5d310a48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1cfb9577c7b4c0a" /><Relationship Type="http://schemas.openxmlformats.org/officeDocument/2006/relationships/notesSlide" Target="/ppt/notesSlides/notesSlide7.xml" Id="R0b69cc91042949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6a2cb96e5814663" /><Relationship Type="http://schemas.openxmlformats.org/officeDocument/2006/relationships/notesSlide" Target="/ppt/notesSlides/notesSlide8.xml" Id="Rd24e9255f2e449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0a8bb7dbd3f4c32" /><Relationship Type="http://schemas.openxmlformats.org/officeDocument/2006/relationships/notesSlide" Target="/ppt/notesSlides/notesSlide9.xml" Id="R41f564da57174d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2429e796d3445b5" /><Relationship Type="http://schemas.openxmlformats.org/officeDocument/2006/relationships/notesSlide" Target="/ppt/notesSlides/notesSlide10.xml" Id="Reecaba9cf9be40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8d679f5f0fa4705" /><Relationship Type="http://schemas.openxmlformats.org/officeDocument/2006/relationships/notesSlide" Target="/ppt/notesSlides/notesSlide11.xml" Id="R05f01bc2481d44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a8e23a20b7e43f4" /><Relationship Type="http://schemas.openxmlformats.org/officeDocument/2006/relationships/notesSlide" Target="/ppt/notesSlides/notesSlide12.xml" Id="Rbed80bc6f9f345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aeab2e2ee9c41d1" /><Relationship Type="http://schemas.openxmlformats.org/officeDocument/2006/relationships/notesSlide" Target="/ppt/notesSlides/notesSlide13.xml" Id="R37547376575e45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cf828bf7b864ce6" /><Relationship Type="http://schemas.openxmlformats.org/officeDocument/2006/relationships/notesSlide" Target="/ppt/notesSlides/notesSlide14.xml" Id="Rea46860c32fa44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e7ccf4420df4971" /><Relationship Type="http://schemas.openxmlformats.org/officeDocument/2006/relationships/notesSlide" Target="/ppt/notesSlides/notesSlide15.xml" Id="R9c40314749e943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4600ab9bdbe4dca" /><Relationship Type="http://schemas.openxmlformats.org/officeDocument/2006/relationships/notesSlide" Target="/ppt/notesSlides/notesSlide16.xml" Id="R93ce3cce11a24d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5b91d3c43034237" /><Relationship Type="http://schemas.openxmlformats.org/officeDocument/2006/relationships/notesSlide" Target="/ppt/notesSlides/notesSlide17.xml" Id="R9e48a26929f049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0e00cfc9cd54a2a" /><Relationship Type="http://schemas.openxmlformats.org/officeDocument/2006/relationships/notesSlide" Target="/ppt/notesSlides/notesSlide18.xml" Id="R3105f3a41fb24b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f6cce5eff764a20" /><Relationship Type="http://schemas.openxmlformats.org/officeDocument/2006/relationships/notesSlide" Target="/ppt/notesSlides/notesSlide19.xml" Id="R4355b51e7bb2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f66c9a043b21445c" /><Relationship Type="http://schemas.openxmlformats.org/officeDocument/2006/relationships/notesSlide" Target="/ppt/notesSlides/notesSlide20.xml" Id="Rd4ad5564e5c94a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61c4f27409743b5" /><Relationship Type="http://schemas.openxmlformats.org/officeDocument/2006/relationships/notesSlide" Target="/ppt/notesSlides/notesSlide21.xml" Id="R046ab0c4984f418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Rectangle 4">
            <a:extLst xmlns:a="http://schemas.openxmlformats.org/drawingml/2006/main">
              <a:ext uri="{FF2B5EF4-FFF2-40B4-BE49-F238E27FC236}">
                <a16:creationId xmlns:a16="http://schemas.microsoft.com/office/drawing/2014/main" id="{EDA7C874-A41E-4B57-802D-AD9D7D030EBD}"/>
              </a:ext>
            </a:extLst>
          </p:cNvPr>
          <p:cNvSpPr>
            <a:spLocks xmlns:a="http://schemas.openxmlformats.org/drawingml/2006/main" noGrp="1"/>
          </p:cNvSpPr>
          <p:nvPr/>
        </p:nvSpPr>
        <p:spPr>
          <a:xfrm xmlns:a="http://schemas.openxmlformats.org/drawingml/2006/main">
            <a:off x="1219200" y="5162747"/>
            <a:ext cx="7924800" cy="1599862"/>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algn="ctr">
              <a:spcBef>
                <a:spcPct val="0"/>
              </a:spcBef>
              <a:spcAft>
                <a:spcPct val="0"/>
              </a:spcAft>
              <a:buNone/>
            </a:pPr>
            <a:r>
              <a:rPr sz="2000">
                <a:solidFill>
                  <a:srgbClr val="006600"/>
                </a:solidFill>
                <a:latin typeface="Britannic Bold"/>
                <a:ea typeface="Britannic Bold"/>
                <a:cs typeface="Britannic Bold"/>
              </a:rPr>
              <a:t>Department of Computer Science and Engineering</a:t>
            </a:r>
          </a:p>
          <a:p xmlns:a="http://schemas.openxmlformats.org/drawingml/2006/main">
            <a:pPr algn="ctr">
              <a:spcBef>
                <a:spcPct val="0"/>
              </a:spcBef>
              <a:spcAft>
                <a:spcPct val="0"/>
              </a:spcAft>
              <a:buNone/>
            </a:pPr>
            <a:r>
              <a:rPr sz="2000">
                <a:solidFill>
                  <a:srgbClr val="006600"/>
                </a:solidFill>
                <a:latin typeface="Britannic Bold"/>
                <a:ea typeface="Britannic Bold"/>
                <a:cs typeface="Britannic Bold"/>
              </a:rPr>
              <a:t>School of Computing</a:t>
            </a:r>
          </a:p>
          <a:p xmlns:a="http://schemas.openxmlformats.org/drawingml/2006/main">
            <a:pPr algn="ctr">
              <a:lnSpc>
                <a:spcPct val="115000"/>
              </a:lnSpc>
              <a:buNone/>
            </a:pPr>
            <a:r>
              <a:rPr sz="2200" b="1">
                <a:solidFill>
                  <a:srgbClr val="006600"/>
                </a:solidFill>
                <a:latin typeface="Bitter Black"/>
                <a:ea typeface="Bitter Black"/>
                <a:cs typeface="Bitter Black"/>
              </a:rPr>
              <a:t>Mohan Babu University</a:t>
            </a:r>
          </a:p>
          <a:p xmlns:a="http://schemas.openxmlformats.org/drawingml/2006/main">
            <a:pPr algn="ctr">
              <a:lnSpc>
                <a:spcPct val="115000"/>
              </a:lnSpc>
              <a:buNone/>
            </a:pPr>
            <a:r>
              <a:rPr sz="1400">
                <a:solidFill>
                  <a:srgbClr val="006600"/>
                </a:solidFill>
                <a:latin typeface="Verdana"/>
                <a:ea typeface="Verdana"/>
                <a:cs typeface="Verdana"/>
              </a:rPr>
              <a:t>Sree</a:t>
            </a:r>
            <a:r>
              <a:rPr sz="1400">
                <a:solidFill>
                  <a:srgbClr val="006600"/>
                </a:solidFill>
                <a:latin typeface="Verdana"/>
                <a:ea typeface="Verdana"/>
                <a:cs typeface="Verdana"/>
              </a:rPr>
              <a:t> </a:t>
            </a:r>
            <a:r>
              <a:rPr sz="1400">
                <a:solidFill>
                  <a:srgbClr val="006600"/>
                </a:solidFill>
                <a:latin typeface="Verdana"/>
                <a:ea typeface="Verdana"/>
                <a:cs typeface="Verdana"/>
              </a:rPr>
              <a:t>Sainath</a:t>
            </a:r>
            <a:r>
              <a:rPr sz="1400">
                <a:solidFill>
                  <a:srgbClr val="006600"/>
                </a:solidFill>
                <a:latin typeface="Verdana"/>
                <a:ea typeface="Verdana"/>
                <a:cs typeface="Verdana"/>
              </a:rPr>
              <a:t> Nagar, A. </a:t>
            </a:r>
            <a:r>
              <a:rPr sz="1400">
                <a:solidFill>
                  <a:srgbClr val="006600"/>
                </a:solidFill>
                <a:latin typeface="Verdana"/>
                <a:ea typeface="Verdana"/>
                <a:cs typeface="Verdana"/>
              </a:rPr>
              <a:t>Rangampet</a:t>
            </a:r>
            <a:r>
              <a:rPr sz="1400">
                <a:solidFill>
                  <a:srgbClr val="006600"/>
                </a:solidFill>
                <a:latin typeface="Verdana"/>
                <a:ea typeface="Verdana"/>
                <a:cs typeface="Verdana"/>
              </a:rPr>
              <a:t>, Tirupati – 517 102 </a:t>
            </a:r>
          </a:p>
          <a:p xmlns:a="http://schemas.openxmlformats.org/drawingml/2006/main">
            <a:pPr algn="ctr">
              <a:lnSpc>
                <a:spcPct val="115000"/>
              </a:lnSpc>
              <a:buNone/>
            </a:pPr>
            <a:r>
              <a:rPr sz="1600" b="1">
                <a:solidFill>
                  <a:srgbClr val="0000CC"/>
                </a:solidFill>
                <a:latin typeface="Verdana"/>
                <a:ea typeface="Verdana"/>
                <a:cs typeface="Verdana"/>
              </a:rPr>
              <a:t>2026-2027</a:t>
            </a:r>
            <a:endParaRPr sz="3200" b="1">
              <a:solidFill>
                <a:srgbClr val="0000CC"/>
              </a:solidFill>
              <a:latin typeface="Tahoma"/>
              <a:ea typeface="Tahoma"/>
              <a:cs typeface="Tahoma"/>
            </a:endParaRPr>
          </a:p>
        </p:txBody>
      </p:sp>
      <p:sp>
        <p:nvSpPr>
          <p:cNvPr id="7" name="Rectangle 2">
            <a:extLst xmlns:a="http://schemas.openxmlformats.org/drawingml/2006/main">
              <a:ext uri="{FF2B5EF4-FFF2-40B4-BE49-F238E27FC236}">
                <a16:creationId xmlns:a16="http://schemas.microsoft.com/office/drawing/2014/main" id="{FCD545A0-54DF-4110-8BB1-3950D28D9EAB}"/>
              </a:ext>
            </a:extLst>
          </p:cNvPr>
          <p:cNvSpPr>
            <a:spLocks xmlns:a="http://schemas.openxmlformats.org/drawingml/2006/main" noGrp="1"/>
          </p:cNvSpPr>
          <p:nvPr>
            <p:ph type="ctrTitle" idx="0"/>
          </p:nvPr>
        </p:nvSpPr>
        <p:spPr>
          <a:xfrm xmlns:a="http://schemas.openxmlformats.org/drawingml/2006/main">
            <a:off x="381000" y="276197"/>
            <a:ext cx="8153400" cy="984622"/>
          </a:xfrm>
        </p:spPr>
        <p:txBody>
          <a:bodyPr xmlns:a="http://schemas.openxmlformats.org/drawingml/2006/main"/>
          <a:lstStyle xmlns:a="http://schemas.openxmlformats.org/drawingml/2006/main">
            <a:defPPr algn="ctr">
              <a:defRPr sz="2025" b="1">
                <a:solidFill>
                  <a:srgbClr val="1F497D"/>
                </a:solidFill>
                <a:latin typeface="Tw Cen MT"/>
                <a:ea typeface="Tw Cen MT"/>
                <a:cs typeface="Tw Cen MT"/>
              </a:defRPr>
            </a:defPPr>
          </a:lstStyle>
          <a:p xmlns:a="http://schemas.openxmlformats.org/drawingml/2006/main">
            <a:pPr algn="ctr">
              <a:buNone/>
              <a:defRPr sz="2025" b="1">
                <a:solidFill>
                  <a:srgbClr val="1F497D"/>
                </a:solidFill>
                <a:latin typeface="Tw Cen MT"/>
                <a:ea typeface="Tw Cen MT"/>
                <a:cs typeface="Tw Cen MT"/>
              </a:defRPr>
            </a:pPr>
            <a:r>
              <a:rPr sz="2025" b="1">
                <a:solidFill>
                  <a:srgbClr val="1F497D"/>
                </a:solidFill>
                <a:latin typeface="Tw Cen MT"/>
                <a:ea typeface="Tw Cen MT"/>
                <a:cs typeface="Tw Cen MT"/>
              </a:rPr>
              <a:t>CloudGuard: An Automated Security Analyzer for AWS Infrastructure as Code, Policy Violation Detection, Risk Assessment, and Remediation</a:t>
            </a:r>
            <a:endParaRPr sz="2400" b="1">
              <a:solidFill>
                <a:srgbClr val="FF0066"/>
              </a:solidFill>
              <a:latin typeface="Tw Cen MT"/>
              <a:ea typeface="Tw Cen MT"/>
              <a:cs typeface="Tw Cen MT"/>
            </a:endParaRPr>
          </a:p>
        </p:txBody>
      </p:sp>
      <p:sp>
        <p:nvSpPr>
          <p:cNvPr id="2" name="Rectangle 2">
            <a:extLst xmlns:a="http://schemas.openxmlformats.org/drawingml/2006/main">
              <a:ext uri="{FF2B5EF4-FFF2-40B4-BE49-F238E27FC236}">
                <a16:creationId xmlns:a16="http://schemas.microsoft.com/office/drawing/2014/main" id="{3CB64DFC-5A8B-E2A4-2C18-576FB30272C5}"/>
              </a:ext>
            </a:extLst>
          </p:cNvPr>
          <p:cNvSpPr>
            <a:spLocks xmlns:a="http://schemas.openxmlformats.org/drawingml/2006/main" noGrp="1"/>
          </p:cNvSpPr>
          <p:nvPr/>
        </p:nvSpPr>
        <p:spPr>
          <a:xfrm xmlns:a="http://schemas.openxmlformats.org/drawingml/2006/main">
            <a:off x="1619250" y="1295400"/>
            <a:ext cx="5905500" cy="2133600"/>
          </a:xfrm>
          <a:prstGeom xmlns:a="http://schemas.openxmlformats.org/drawingml/2006/main" prst="rect">
            <a:avLst/>
          </a:prstGeom>
        </p:spPr>
        <p:txBody>
          <a:bodyPr xmlns:a="http://schemas.openxmlformats.org/drawingml/2006/main" vert="horz" lIns="91440" tIns="45720" rIns="91440" bIns="45720" anchor="t"/>
          <a:lstStyle xmlns:a="http://schemas.openxmlformats.org/drawingml/2006/main">
            <a:defPPr algn="ctr">
              <a:defRPr sz="1275" b="1">
                <a:solidFill>
                  <a:srgbClr val="000000"/>
                </a:solidFill>
                <a:latin typeface="Tw Cen MT"/>
                <a:ea typeface="Tw Cen MT"/>
                <a:cs typeface="Tw Cen MT"/>
              </a:defRPr>
            </a:defPPr>
            <a:lvl1pPr algn="ctr" defTabSz="914400">
              <a:spcBef>
                <a:spcPct val="0"/>
              </a:spcBef>
              <a:buNone/>
              <a:defRPr sz="4400" kern="1200">
                <a:solidFill>
                  <a:schemeClr val="tx1"/>
                </a:solidFill>
                <a:latin typeface="+mj-lt"/>
                <a:ea typeface="+mj-lt"/>
                <a:cs typeface="+mj-lt"/>
              </a:defRPr>
            </a:lvl1pPr>
          </a:lstStyle>
          <a:p xmlns:a="http://schemas.openxmlformats.org/drawingml/2006/main">
            <a:pPr algn="ctr">
              <a:lnSpc>
                <a:spcPct val="120000"/>
              </a:lnSpc>
              <a:buNone/>
              <a:defRPr sz="1275" b="1">
                <a:solidFill>
                  <a:srgbClr val="000000"/>
                </a:solidFill>
                <a:latin typeface="Tw Cen MT"/>
                <a:ea typeface="Tw Cen MT"/>
                <a:cs typeface="Tw Cen MT"/>
              </a:defRPr>
            </a:pPr>
            <a:r>
              <a:rPr sz="1275" b="1">
                <a:solidFill>
                  <a:srgbClr val="000000"/>
                </a:solidFill>
                <a:latin typeface="Tw Cen MT"/>
                <a:ea typeface="Tw Cen MT"/>
                <a:cs typeface="Tw Cen MT"/>
              </a:rPr>
              <a:t>Batch No: A8-7</a:t>
            </a:r>
          </a:p>
          <a:p xmlns:a="http://schemas.openxmlformats.org/drawingml/2006/main">
            <a:pPr algn="ctr">
              <a:lnSpc>
                <a:spcPct val="120000"/>
              </a:lnSpc>
              <a:buNone/>
              <a:defRPr sz="1275" b="1">
                <a:solidFill>
                  <a:srgbClr val="000000"/>
                </a:solidFill>
                <a:latin typeface="Tw Cen MT"/>
                <a:ea typeface="Tw Cen MT"/>
                <a:cs typeface="Tw Cen MT"/>
              </a:defRPr>
            </a:pPr>
            <a:r>
              <a:rPr sz="1275" b="1">
                <a:solidFill>
                  <a:srgbClr val="000000"/>
                </a:solidFill>
                <a:highlight>
                  <a:srgbClr val="FFFF00"/>
                </a:highlight>
                <a:latin typeface="Tw Cen MT"/>
                <a:ea typeface="Tw Cen MT"/>
                <a:cs typeface="Tw Cen MT"/>
              </a:rPr>
              <a:t>DOGUPARTHI MEGHANA   23102A040605</a:t>
            </a:r>
          </a:p>
          <a:p xmlns:a="http://schemas.openxmlformats.org/drawingml/2006/main">
            <a:pPr algn="ctr">
              <a:lnSpc>
                <a:spcPct val="120000"/>
              </a:lnSpc>
              <a:buNone/>
              <a:defRPr sz="1275" b="1">
                <a:solidFill>
                  <a:srgbClr val="000000"/>
                </a:solidFill>
                <a:latin typeface="Tw Cen MT"/>
                <a:ea typeface="Tw Cen MT"/>
                <a:cs typeface="Tw Cen MT"/>
              </a:defRPr>
            </a:pPr>
            <a:r>
              <a:rPr sz="1275" b="1">
                <a:solidFill>
                  <a:srgbClr val="000000"/>
                </a:solidFill>
                <a:highlight>
                  <a:srgbClr val="FFFF00"/>
                </a:highlight>
                <a:latin typeface="Tw Cen MT"/>
                <a:ea typeface="Tw Cen MT"/>
                <a:cs typeface="Tw Cen MT"/>
              </a:rPr>
              <a:t>YELLAPU VISHNU PRIYA   23102A040580</a:t>
            </a:r>
          </a:p>
          <a:p xmlns:a="http://schemas.openxmlformats.org/drawingml/2006/main">
            <a:pPr algn="ctr">
              <a:lnSpc>
                <a:spcPct val="120000"/>
              </a:lnSpc>
              <a:buNone/>
              <a:defRPr sz="1275" b="1">
                <a:solidFill>
                  <a:srgbClr val="000000"/>
                </a:solidFill>
                <a:latin typeface="Tw Cen MT"/>
                <a:ea typeface="Tw Cen MT"/>
                <a:cs typeface="Tw Cen MT"/>
              </a:defRPr>
            </a:pPr>
            <a:r>
              <a:rPr sz="1275" b="1">
                <a:solidFill>
                  <a:srgbClr val="000000"/>
                </a:solidFill>
                <a:highlight>
                  <a:srgbClr val="FFFF00"/>
                </a:highlight>
                <a:latin typeface="Tw Cen MT"/>
                <a:ea typeface="Tw Cen MT"/>
                <a:cs typeface="Tw Cen MT"/>
              </a:rPr>
              <a:t>DONIKELA UDAY   23102A040567</a:t>
            </a:r>
          </a:p>
          <a:p xmlns:a="http://schemas.openxmlformats.org/drawingml/2006/main">
            <a:pPr algn="ctr">
              <a:lnSpc>
                <a:spcPct val="120000"/>
              </a:lnSpc>
              <a:buNone/>
              <a:defRPr sz="1275" b="1">
                <a:solidFill>
                  <a:srgbClr val="000000"/>
                </a:solidFill>
                <a:latin typeface="Tw Cen MT"/>
                <a:ea typeface="Tw Cen MT"/>
                <a:cs typeface="Tw Cen MT"/>
              </a:defRPr>
            </a:pPr>
            <a:r>
              <a:rPr sz="1275" b="1">
                <a:solidFill>
                  <a:srgbClr val="000000"/>
                </a:solidFill>
                <a:highlight>
                  <a:srgbClr val="FFFF00"/>
                </a:highlight>
                <a:latin typeface="Tw Cen MT"/>
                <a:ea typeface="Tw Cen MT"/>
                <a:cs typeface="Tw Cen MT"/>
              </a:rPr>
              <a:t>SHAIK VASHEDHA BHANU   23102A040603</a:t>
            </a:r>
          </a:p>
        </p:txBody>
      </p:sp>
      <p:sp>
        <p:nvSpPr>
          <p:cNvPr id="5" name="TextBox 4">
            <a:extLst xmlns:a="http://schemas.openxmlformats.org/drawingml/2006/main">
              <a:ext uri="{FF2B5EF4-FFF2-40B4-BE49-F238E27FC236}">
                <a16:creationId xmlns:a16="http://schemas.microsoft.com/office/drawing/2014/main" id="{343FB77F-FDD1-2D58-9DAD-2BAFA7191ED4}"/>
              </a:ext>
            </a:extLst>
          </p:cNvPr>
          <p:cNvSpPr>
            <a:spLocks xmlns:a="http://schemas.openxmlformats.org/drawingml/2006/main" noGrp="1"/>
          </p:cNvSpPr>
          <p:nvPr/>
        </p:nvSpPr>
        <p:spPr>
          <a:xfrm xmlns:a="http://schemas.openxmlformats.org/drawingml/2006/main">
            <a:off x="2933700" y="3593985"/>
            <a:ext cx="3276600" cy="94869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defPPr algn="l">
              <a:defRPr sz="1875">
                <a:solidFill>
                  <a:srgbClr val="000000"/>
                </a:solidFill>
                <a:latin typeface="Tw Cen MT"/>
                <a:ea typeface="Tw Cen MT"/>
                <a:cs typeface="Tw Cen MT"/>
              </a:defRPr>
            </a:defPPr>
          </a:lstStyle>
          <a:p xmlns:a="http://schemas.openxmlformats.org/drawingml/2006/main">
            <a:pPr algn="l">
              <a:buNone/>
              <a:defRPr sz="1875">
                <a:solidFill>
                  <a:srgbClr val="000000"/>
                </a:solidFill>
                <a:latin typeface="Tw Cen MT"/>
                <a:ea typeface="Tw Cen MT"/>
                <a:cs typeface="Tw Cen MT"/>
              </a:defRPr>
            </a:pPr>
            <a:r>
              <a:rPr sz="1875">
                <a:solidFill>
                  <a:srgbClr val="000000"/>
                </a:solidFill>
                <a:latin typeface="Tw Cen MT"/>
                <a:ea typeface="Tw Cen MT"/>
                <a:cs typeface="Tw Cen MT"/>
              </a:rPr>
              <a:t>Under the Guidance of</a:t>
            </a:r>
            <a:endParaRPr sz="2200" kern="100">
              <a:latin typeface="Tw Cen MT"/>
              <a:ea typeface="Tw Cen MT"/>
              <a:cs typeface="Tw Cen MT"/>
            </a:endParaRPr>
          </a:p>
          <a:p xmlns:a="http://schemas.openxmlformats.org/drawingml/2006/main">
            <a:pPr algn="l">
              <a:buNone/>
              <a:defRPr sz="1875">
                <a:solidFill>
                  <a:srgbClr val="000000"/>
                </a:solidFill>
                <a:latin typeface="Tw Cen MT"/>
                <a:ea typeface="Tw Cen MT"/>
                <a:cs typeface="Tw Cen MT"/>
              </a:defRPr>
            </a:pPr>
            <a:r>
              <a:rPr sz="1875" b="1">
                <a:solidFill>
                  <a:srgbClr val="000000"/>
                </a:solidFill>
                <a:highlight>
                  <a:srgbClr val="FFFF00"/>
                </a:highlight>
                <a:latin typeface="Tw Cen MT"/>
                <a:ea typeface="Tw Cen MT"/>
                <a:cs typeface="Tw Cen MT"/>
              </a:rPr>
              <a:t>Dr. T. Sukumar</a:t>
            </a:r>
            <a:endParaRPr sz="2200" kern="100">
              <a:highlight>
                <a:srgbClr val="FFFF00"/>
              </a:highlight>
              <a:latin typeface="Tw Cen MT"/>
              <a:ea typeface="Tw Cen MT"/>
              <a:cs typeface="Tw Cen MT"/>
            </a:endParaRPr>
          </a:p>
          <a:p xmlns:a="http://schemas.openxmlformats.org/drawingml/2006/main">
            <a:pPr algn="l">
              <a:buNone/>
              <a:defRPr sz="1875">
                <a:solidFill>
                  <a:srgbClr val="000000"/>
                </a:solidFill>
                <a:latin typeface="Tw Cen MT"/>
                <a:ea typeface="Tw Cen MT"/>
                <a:cs typeface="Tw Cen MT"/>
              </a:defRPr>
            </a:pPr>
            <a:r>
              <a:rPr sz="1875">
                <a:solidFill>
                  <a:srgbClr val="000000"/>
                </a:solidFill>
                <a:highlight>
                  <a:srgbClr val="FFFF00"/>
                </a:highlight>
                <a:latin typeface="Tw Cen MT"/>
                <a:ea typeface="Tw Cen MT"/>
                <a:cs typeface="Tw Cen MT"/>
              </a:rPr>
              <a:t>Professor</a:t>
            </a:r>
            <a:endParaRPr sz="2200" kern="100">
              <a:latin typeface="Tw Cen MT"/>
              <a:ea typeface="Tw Cen MT"/>
              <a:cs typeface="Tw Cen MT"/>
            </a:endParaRPr>
          </a:p>
        </p:txBody>
      </p:sp>
      <p:pic>
        <p:nvPicPr>
          <p:cNvPr id="4" name="Picture 3">
            <a:extLst xmlns:a="http://schemas.openxmlformats.org/drawingml/2006/main">
              <a:ext uri="{FF2B5EF4-FFF2-40B4-BE49-F238E27FC236}">
                <a16:creationId xmlns:a16="http://schemas.microsoft.com/office/drawing/2014/main" id="{256BD8D5-1F29-4D68-A507-CF5B806105A6}"/>
              </a:ext>
            </a:extLst>
          </p:cNvPr>
          <p:cNvPicPr>
            <a:picLocks xmlns:a="http://schemas.openxmlformats.org/drawingml/2006/main" noChangeAspect="1"/>
          </p:cNvPicPr>
          <p:nvPr/>
        </p:nvPicPr>
        <p:blipFill>
          <a:blip xmlns:r="http://schemas.openxmlformats.org/officeDocument/2006/relationships" xmlns:a="http://schemas.openxmlformats.org/drawingml/2006/main" r:embed="R7ee0f3b5920b4f54"/>
          <a:srcRect xmlns:a="http://schemas.openxmlformats.org/drawingml/2006/main" l="0" t="0" r="0" b="0"/>
          <a:stretch xmlns:a="http://schemas.openxmlformats.org/drawingml/2006/main">
            <a:fillRect l="0" t="0" r="0" b="0"/>
          </a:stretch>
        </p:blipFill>
        <p:spPr>
          <a:xfrm xmlns:a="http://schemas.openxmlformats.org/drawingml/2006/main">
            <a:off x="381000" y="5410200"/>
            <a:ext cx="1542415" cy="845820"/>
          </a:xfrm>
          <a:prstGeom xmlns:a="http://schemas.openxmlformats.org/drawingml/2006/main" prst="rect">
            <a:avLst/>
          </a:prstGeom>
        </p:spPr>
      </p:pic>
    </p:spTree>
    <p:extLst>
      <p:ext uri="{BB962C8B-B14F-4D97-AF65-F5344CB8AC3E}">
        <p14:creationId xmlns:p14="http://schemas.microsoft.com/office/powerpoint/2010/main" val="8595210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34BAB-7FF8-4C26-6283-5998A632DA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Table of Contents</a:t>
            </a:r>
            <a:endParaRPr/>
          </a:p>
        </p:txBody>
      </p:sp>
      <p:sp>
        <p:nvSpPr>
          <p:cNvPr id="3" name="Content Placeholder 2">
            <a:extLst xmlns:a="http://schemas.openxmlformats.org/drawingml/2006/main">
              <a:ext uri="{FF2B5EF4-FFF2-40B4-BE49-F238E27FC236}">
                <a16:creationId xmlns:a16="http://schemas.microsoft.com/office/drawing/2014/main" id="{51F211AE-6F4E-F45A-F655-6E39EC648280}"/>
              </a:ext>
            </a:extLst>
          </p:cNvPr>
          <p:cNvSpPr>
            <a:spLocks xmlns:a="http://schemas.openxmlformats.org/drawingml/2006/main" noGrp="1"/>
          </p:cNvSpPr>
          <p:nvPr>
            <p:ph idx="1"/>
          </p:nvPr>
        </p:nvSpPr>
        <p:spPr/>
        <p:txBody>
          <a:bodyPr xmlns:a="http://schemas.openxmlformats.org/drawingml/2006/main">
            <a:normAutofit fontScale="60694"/>
          </a:bodyPr>
          <a:lstStyle xmlns:a="http://schemas.openxmlformats.org/drawingml/2006/main"/>
          <a:p xmlns:a="http://schemas.openxmlformats.org/drawingml/2006/main">
            <a:r>
              <a:t>Abstract</a:t>
            </a:r>
          </a:p>
          <a:p xmlns:a="http://schemas.openxmlformats.org/drawingml/2006/main">
            <a:r>
              <a:t>Introduction</a:t>
            </a:r>
          </a:p>
          <a:p xmlns:a="http://schemas.openxmlformats.org/drawingml/2006/main">
            <a:r>
              <a:t>Problem Statement</a:t>
            </a:r>
          </a:p>
          <a:p xmlns:a="http://schemas.openxmlformats.org/drawingml/2006/main">
            <a:r>
              <a:t>Base Paper, Journal and Research Gap</a:t>
            </a:r>
          </a:p>
          <a:p xmlns:a="http://schemas.openxmlformats.org/drawingml/2006/main">
            <a:r>
              <a:t>Objectives of Proposed Work</a:t>
            </a:r>
          </a:p>
          <a:p xmlns:a="http://schemas.openxmlformats.org/drawingml/2006/main">
            <a:r>
              <a:t>Proposed System Architecture</a:t>
            </a:r>
          </a:p>
          <a:p xmlns:a="http://schemas.openxmlformats.org/drawingml/2006/main">
            <a:r>
              <a:t>Proposed Methodology</a:t>
            </a:r>
          </a:p>
          <a:p xmlns:a="http://schemas.openxmlformats.org/drawingml/2006/main">
            <a:r>
              <a:t>Risk Assessment Logic</a:t>
            </a:r>
          </a:p>
          <a:p xmlns:a="http://schemas.openxmlformats.org/drawingml/2006/main">
            <a:r>
              <a:t>Existing Methodologies</a:t>
            </a:r>
          </a:p>
          <a:p xmlns:a="http://schemas.openxmlformats.org/drawingml/2006/main">
            <a:r>
              <a:t>Existing Methodology Drawbacks</a:t>
            </a:r>
          </a:p>
          <a:p xmlns:a="http://schemas.openxmlformats.org/drawingml/2006/main">
            <a:r>
              <a:t>CloudGuard Interface Workflow</a:t>
            </a:r>
          </a:p>
          <a:p xmlns:a="http://schemas.openxmlformats.org/drawingml/2006/main">
            <a:r>
              <a:t>Implementation Details</a:t>
            </a:r>
          </a:p>
          <a:p xmlns:a="http://schemas.openxmlformats.org/drawingml/2006/main">
            <a:r>
              <a:t>Implementation Example</a:t>
            </a:r>
          </a:p>
          <a:p xmlns:a="http://schemas.openxmlformats.org/drawingml/2006/main">
            <a:r>
              <a:t>Decision Gate Workflow</a:t>
            </a:r>
          </a:p>
          <a:p xmlns:a="http://schemas.openxmlformats.org/drawingml/2006/main">
            <a:r>
              <a:t>Domain and Tools</a:t>
            </a:r>
          </a:p>
          <a:p xmlns:a="http://schemas.openxmlformats.org/drawingml/2006/main">
            <a:r>
              <a:t>Current Project Evidence</a:t>
            </a:r>
          </a:p>
          <a:p xmlns:a="http://schemas.openxmlformats.org/drawingml/2006/main">
            <a:r>
              <a:t>Conclusion and Future Work</a:t>
            </a:r>
          </a:p>
          <a:p xmlns:a="http://schemas.openxmlformats.org/drawingml/2006/main">
            <a:r>
              <a:t>References</a:t>
            </a:r>
          </a:p>
        </p:txBody>
      </p:sp>
      <p:sp>
        <p:nvSpPr>
          <p:cNvPr id="4" name="Slide Number Placeholder 3">
            <a:extLst xmlns:a="http://schemas.openxmlformats.org/drawingml/2006/main">
              <a:ext uri="{FF2B5EF4-FFF2-40B4-BE49-F238E27FC236}">
                <a16:creationId xmlns:a16="http://schemas.microsoft.com/office/drawing/2014/main" id="{66D11FA8-76FC-6496-C484-67690FD904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3FF234-8176-4A77-8F9A-3A491C5D5CBE}" type="slidenum">
              <a:t>2</a:t>
            </a:fld>
            <a:endParaRPr/>
          </a:p>
        </p:txBody>
      </p:sp>
    </p:spTree>
    <p:extLst>
      <p:ext uri="{BB962C8B-B14F-4D97-AF65-F5344CB8AC3E}">
        <p14:creationId xmlns:p14="http://schemas.microsoft.com/office/powerpoint/2010/main" val="6739348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633619-3681-D985-B373-2D5A71EDFD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Abstract</a:t>
            </a:r>
          </a:p>
        </p:txBody>
      </p:sp>
      <p:sp>
        <p:nvSpPr>
          <p:cNvPr id="3" name="Content Placeholder 2">
            <a:extLst xmlns:a="http://schemas.openxmlformats.org/drawingml/2006/main">
              <a:ext uri="{FF2B5EF4-FFF2-40B4-BE49-F238E27FC236}">
                <a16:creationId xmlns:a16="http://schemas.microsoft.com/office/drawing/2014/main" id="{E9BCE63F-047C-BDC3-CAA2-21A3D2D0B1EF}"/>
              </a:ext>
            </a:extLst>
          </p:cNvPr>
          <p:cNvSpPr>
            <a:spLocks xmlns:a="http://schemas.openxmlformats.org/drawingml/2006/main" noGrp="1"/>
          </p:cNvSpPr>
          <p:nvPr>
            <p:ph idx="1"/>
          </p:nvPr>
        </p:nvSpPr>
        <p:spPr/>
        <p:txBody>
          <a:bodyPr xmlns:a="http://schemas.openxmlformats.org/drawingml/2006/main"/>
          <a:lstStyle xmlns:a="http://schemas.openxmlformats.org/drawingml/2006/main">
            <a:defPPr algn="just">
              <a:defRPr sz="1425">
                <a:solidFill>
                  <a:srgbClr val="000000"/>
                </a:solidFill>
                <a:latin typeface="Tahoma"/>
                <a:ea typeface="Tahoma"/>
                <a:cs typeface="Tahoma"/>
              </a:defRPr>
            </a:defPPr>
          </a:lstStyle>
          <a:p xmlns:a="http://schemas.openxmlformats.org/drawingml/2006/main">
            <a:pPr marL="0" indent="0" algn="just">
              <a:buNone/>
              <a:defRPr sz="1425">
                <a:solidFill>
                  <a:srgbClr val="000000"/>
                </a:solidFill>
                <a:latin typeface="Tahoma"/>
                <a:ea typeface="Tahoma"/>
                <a:cs typeface="Tahoma"/>
              </a:defRPr>
            </a:pPr>
            <a:r>
              <a:rPr sz="1425">
                <a:solidFill>
                  <a:srgbClr val="000000"/>
                </a:solidFill>
                <a:latin typeface="Tahoma"/>
                <a:ea typeface="Tahoma"/>
                <a:cs typeface="Tahoma"/>
              </a:rPr>
              <a:t>CloudGuard is a browser-based security analyzer for AWS Infrastructure as Code written in Terraform and CloudFormation. It accepts an uploaded configuration, identifies selected policy violations, assigns transparent heuristic risk priorities, and presents remediation guidance before deployment. The prototype focuses on public storage or database access, unrestricted security-group ingress, wildcard IAM actions, and disabled database encryption. Analysis is upload-first and local; it does not deploy resources, require AWS credentials, support Helm or Kubernetes, or automatically rewrite source code. The reproducibility package contains a project-team synthetic mutation benchmark with 50 manifests and 70 policy-instance labels. The current implementation sanity run produced 30 true positives, 0 false positives, 0 false negatives, and 40 true negatives. The resulting F1 of 1.0000 is reported as an optimistic sanity result, not as evidence of production accuracy or superiority over established scanners.</a:t>
            </a:r>
            <a:endParaRPr/>
          </a:p>
        </p:txBody>
      </p:sp>
      <p:sp>
        <p:nvSpPr>
          <p:cNvPr id="4" name="Slide Number Placeholder 3">
            <a:extLst xmlns:a="http://schemas.openxmlformats.org/drawingml/2006/main">
              <a:ext uri="{FF2B5EF4-FFF2-40B4-BE49-F238E27FC236}">
                <a16:creationId xmlns:a16="http://schemas.microsoft.com/office/drawing/2014/main" id="{451BFB76-1FE9-DC87-2B2D-AFE9A76B15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3FF234-8176-4A77-8F9A-3A491C5D5CBE}" type="slidenum">
              <a:t>3</a:t>
            </a:fld>
            <a:endParaRPr/>
          </a:p>
        </p:txBody>
      </p:sp>
    </p:spTree>
    <p:extLst>
      <p:ext uri="{BB962C8B-B14F-4D97-AF65-F5344CB8AC3E}">
        <p14:creationId xmlns:p14="http://schemas.microsoft.com/office/powerpoint/2010/main" val="27759494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40FE881-475C-42D3-9E3C-26BD0C248BF6}"/>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Introduction</a:t>
            </a:r>
          </a:p>
        </p:txBody>
      </p:sp>
      <p:sp>
        <p:nvSpPr>
          <p:cNvPr id="2" name="">
            <a:extLst xmlns:a="http://schemas.openxmlformats.org/drawingml/2006/main">
              <a:ext uri="{FF2B5EF4-FFF2-40B4-BE49-F238E27FC236}">
                <a16:creationId xmlns:a16="http://schemas.microsoft.com/office/drawing/2014/main" id="{E6D50EBA-42AB-4683-B41B-0A1064B37290}"/>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just">
              <a:defRPr sz="1500">
                <a:solidFill>
                  <a:srgbClr val="000000"/>
                </a:solidFill>
                <a:latin typeface="Tahoma"/>
                <a:ea typeface="Tahoma"/>
                <a:cs typeface="Tahoma"/>
              </a:defRPr>
            </a:defPPr>
          </a:lstStyle>
          <a:p xmlns:a="http://schemas.openxmlformats.org/drawingml/2006/main">
            <a:pPr algn="just">
              <a:buNone/>
              <a:defRPr sz="1500">
                <a:solidFill>
                  <a:srgbClr val="000000"/>
                </a:solidFill>
                <a:latin typeface="Tahoma"/>
                <a:ea typeface="Tahoma"/>
                <a:cs typeface="Tahoma"/>
              </a:defRPr>
            </a:pPr>
            <a:r>
              <a:rPr sz="1500">
                <a:solidFill>
                  <a:srgbClr val="000000"/>
                </a:solidFill>
                <a:latin typeface="Tahoma"/>
                <a:ea typeface="Tahoma"/>
                <a:cs typeface="Tahoma"/>
              </a:rPr>
              <a:t>Cloud teams increasingly use Infrastructure as Code to define cloud resources repeatedly and consistently. A permissive access rule, excessive permission, or disabled protection can be propagated across environments before deployment review. Existing scanners are useful, but developers still need a clear connection between each finding, its policy meaning, its priority, and the next remediation step. CloudGuard addresses this traceability problem for AWS Terraform and CloudFormation through an upload-first browser workflow. The project is informed by prior security-policy analysis research while keeping its implementation strictly within the AWS IaC scope.</a:t>
            </a:r>
          </a:p>
        </p:txBody>
      </p:sp>
    </p:spTree>
    <p:extLst>
      <p:ext uri="{BB962C8B-B14F-4D97-AF65-F5344CB8AC3E}">
        <p14:creationId xmlns:p14="http://schemas.microsoft.com/office/powerpoint/2010/main" val="4796091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F73D91F-3E8B-4317-8F68-2972D0C150C4}"/>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Problem Statement</a:t>
            </a:r>
          </a:p>
        </p:txBody>
      </p:sp>
      <p:sp>
        <p:nvSpPr>
          <p:cNvPr id="2" name="">
            <a:extLst xmlns:a="http://schemas.openxmlformats.org/drawingml/2006/main">
              <a:ext uri="{FF2B5EF4-FFF2-40B4-BE49-F238E27FC236}">
                <a16:creationId xmlns:a16="http://schemas.microsoft.com/office/drawing/2014/main" id="{D253796C-4FB6-4E99-835E-461634D6E471}"/>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just">
              <a:defRPr sz="1500">
                <a:solidFill>
                  <a:srgbClr val="000000"/>
                </a:solidFill>
                <a:latin typeface="Tahoma"/>
                <a:ea typeface="Tahoma"/>
                <a:cs typeface="Tahoma"/>
              </a:defRPr>
            </a:defPPr>
          </a:lstStyle>
          <a:p xmlns:a="http://schemas.openxmlformats.org/drawingml/2006/main">
            <a:pPr algn="just">
              <a:buNone/>
              <a:defRPr sz="1500">
                <a:solidFill>
                  <a:srgbClr val="000000"/>
                </a:solidFill>
                <a:latin typeface="Tahoma"/>
                <a:ea typeface="Tahoma"/>
                <a:cs typeface="Tahoma"/>
              </a:defRPr>
            </a:pPr>
            <a:r>
              <a:rPr sz="1500">
                <a:solidFill>
                  <a:srgbClr val="000000"/>
                </a:solidFill>
                <a:latin typeface="Tahoma"/>
                <a:ea typeface="Tahoma"/>
                <a:cs typeface="Tahoma"/>
              </a:rPr>
              <a:t>AWS IaC files can contain security weaknesses that are easy to miss during manual review. Different tools may describe similar conditions with different rule identifiers, severity conventions, and remediation language. A final-year project therefore needs a lightweight analyzer that can inspect uploaded Terraform and CloudFormation files, identify policy violations, explain why each finding matters, prioritize attention transparently, and provide practical guidance for correction. The challenge is to support this workflow while keeping the evidence boundary clear: the present evaluation is a project-team synthetic sanity benchmark, not a production security study.</a:t>
            </a:r>
          </a:p>
        </p:txBody>
      </p:sp>
    </p:spTree>
    <p:extLst>
      <p:ext uri="{BB962C8B-B14F-4D97-AF65-F5344CB8AC3E}">
        <p14:creationId xmlns:p14="http://schemas.microsoft.com/office/powerpoint/2010/main" val="14611522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A5ABA4B-D92C-48D1-AF87-C50058CDFC63}"/>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Base Paper, Journal and Research Gap</a:t>
            </a:r>
          </a:p>
        </p:txBody>
      </p:sp>
      <p:sp>
        <p:nvSpPr>
          <p:cNvPr id="2" name="">
            <a:extLst xmlns:a="http://schemas.openxmlformats.org/drawingml/2006/main">
              <a:ext uri="{FF2B5EF4-FFF2-40B4-BE49-F238E27FC236}">
                <a16:creationId xmlns:a16="http://schemas.microsoft.com/office/drawing/2014/main" id="{F53C4155-944B-489A-8335-0072D80BDE1C}"/>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a:solidFill>
                  <a:srgbClr val="000000"/>
                </a:solidFill>
                <a:latin typeface="Tahoma"/>
                <a:ea typeface="Tahoma"/>
                <a:cs typeface="Tahoma"/>
              </a:defRPr>
            </a:defPPr>
          </a:lstStyle>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Base paper: F. Minna, A. Blaise, K. Tuma, and F. Massacci, "Automated Analysis of Security Policy Violations in Helm Charts," IEEE Transactions on Dependable and Secure Computing, vol. 23, no. 2, pp. 2519-2533, 2026, DOI: 10.1109/TDSC.2025.3628213.</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Journal: IEEE Transactions on Dependable and Secure Computing (IEEE TDSC). Impact factor: verify the current Clarivate Journal Citation Reports value before formal submission; no unverified number is shown here.</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Research gap: the base paper studies Helm/Kubernetes policy analysis. CloudGuard transfers the policy-traceability idea to AWS Terraform and CloudFormation, adds transparent prioritization and remediation guidance, and reports a reproducible implementation sanity benchmark. CloudGuard does not implement Helm or Kubernetes.</a:t>
            </a:r>
          </a:p>
        </p:txBody>
      </p:sp>
    </p:spTree>
    <p:extLst>
      <p:ext uri="{BB962C8B-B14F-4D97-AF65-F5344CB8AC3E}">
        <p14:creationId xmlns:p14="http://schemas.microsoft.com/office/powerpoint/2010/main" val="77910881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AFF3446-3985-4692-A66D-6336DABC442F}"/>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Objectives of Proposed Work</a:t>
            </a:r>
          </a:p>
        </p:txBody>
      </p:sp>
      <p:sp>
        <p:nvSpPr>
          <p:cNvPr id="2" name="">
            <a:extLst xmlns:a="http://schemas.openxmlformats.org/drawingml/2006/main">
              <a:ext uri="{FF2B5EF4-FFF2-40B4-BE49-F238E27FC236}">
                <a16:creationId xmlns:a16="http://schemas.microsoft.com/office/drawing/2014/main" id="{719117A1-3B68-41F1-9A17-36DD43C454B4}"/>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a:solidFill>
                  <a:srgbClr val="000000"/>
                </a:solidFill>
                <a:latin typeface="Tahoma"/>
                <a:ea typeface="Tahoma"/>
                <a:cs typeface="Tahoma"/>
              </a:defRPr>
            </a:defPPr>
          </a:lstStyle>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Detect selected AWS IaC policy violations from Terraform and CloudFormation files.</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Identify each finding with a stable policy SID, resource, and severity.</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Calculate a transparent heuristic risk score for prioritization.</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Provide policy-specific explanations and remediation guidance.</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Support local upload-first analysis without AWS credentials.</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Preserve labels, predictions, and metrics for reproducibility.</a:t>
            </a:r>
          </a:p>
          <a:p xmlns:a="http://schemas.openxmlformats.org/drawingml/2006/main">
            <a:pPr algn="l">
              <a:buNone/>
              <a:defRPr sz="1575">
                <a:solidFill>
                  <a:srgbClr val="000000"/>
                </a:solidFill>
                <a:latin typeface="Tahoma"/>
                <a:ea typeface="Tahoma"/>
                <a:cs typeface="Tahoma"/>
              </a:defRPr>
            </a:pPr>
            <a:r>
              <a:rPr sz="1575">
                <a:solidFill>
                  <a:srgbClr val="000000"/>
                </a:solidFill>
                <a:latin typeface="Tahoma"/>
                <a:ea typeface="Tahoma"/>
                <a:cs typeface="Tahoma"/>
              </a:rPr>
              <a:t>- Evaluate the prototype with a project-team synthetic sanity benchmark.</a:t>
            </a:r>
          </a:p>
        </p:txBody>
      </p:sp>
    </p:spTree>
    <p:extLst>
      <p:ext uri="{BB962C8B-B14F-4D97-AF65-F5344CB8AC3E}">
        <p14:creationId xmlns:p14="http://schemas.microsoft.com/office/powerpoint/2010/main" val="4059913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87C4466-ABDF-4502-9438-FD970AAE3681}"/>
              </a:ext>
            </a:extLst>
          </p:cNvPr>
          <p:cNvCxnSpPr>
            <a:stCxn xmlns:a="http://schemas.openxmlformats.org/drawingml/2006/main" id="5" idx="3"/>
            <a:endCxn xmlns:a="http://schemas.openxmlformats.org/drawingml/2006/main" id="6" idx="1"/>
          </p:cNvCxnSpPr>
          <p:nvPr/>
        </p:nvCxnSpPr>
        <p:spPr>
          <a:xfrm xmlns:a="http://schemas.openxmlformats.org/drawingml/2006/main">
            <a:off x="7286625" y="2881313"/>
            <a:ext cx="238125" cy="0"/>
          </a:xfrm>
          <a:prstGeom xmlns:a="http://schemas.openxmlformats.org/drawingml/2006/main" prst="straightConnector1">
            <a:avLst/>
          </a:prstGeom>
          <a:ln xmlns:a="http://schemas.openxmlformats.org/drawingml/2006/main" w="0">
            <a:solidFill>
              <a:srgbClr val="FFFFFF"/>
            </a:solidFill>
            <a:prstDash val="solid"/>
            <a:headEnd type="arrow" w="med" len="med"/>
          </a:ln>
        </p:spPr>
      </p:cxnSp>
      <p:cxnSp>
        <p:nvCxnSpPr>
          <p:cNvPr id="9" name="">
            <a:extLst xmlns:a="http://schemas.openxmlformats.org/drawingml/2006/main">
              <a:ext uri="{FF2B5EF4-FFF2-40B4-BE49-F238E27FC236}">
                <a16:creationId xmlns:a16="http://schemas.microsoft.com/office/drawing/2014/main" id="{5145394C-EB4C-4B07-A1DF-EE1DC8717229}"/>
              </a:ext>
            </a:extLst>
          </p:cNvPr>
          <p:cNvCxnSpPr>
            <a:stCxn xmlns:a="http://schemas.openxmlformats.org/drawingml/2006/main" id="4" idx="3"/>
            <a:endCxn xmlns:a="http://schemas.openxmlformats.org/drawingml/2006/main" id="5" idx="1"/>
          </p:cNvCxnSpPr>
          <p:nvPr/>
        </p:nvCxnSpPr>
        <p:spPr>
          <a:xfrm xmlns:a="http://schemas.openxmlformats.org/drawingml/2006/main">
            <a:off x="5476875" y="2881313"/>
            <a:ext cx="619125" cy="0"/>
          </a:xfrm>
          <a:prstGeom xmlns:a="http://schemas.openxmlformats.org/drawingml/2006/main" prst="straightConnector1">
            <a:avLst/>
          </a:prstGeom>
          <a:ln xmlns:a="http://schemas.openxmlformats.org/drawingml/2006/main" w="0">
            <a:solidFill>
              <a:srgbClr val="FFFFFF"/>
            </a:solidFill>
            <a:prstDash val="solid"/>
            <a:headEnd type="arrow" w="med" len="med"/>
          </a:ln>
        </p:spPr>
      </p:cxnSp>
      <p:cxnSp>
        <p:nvCxnSpPr>
          <p:cNvPr id="8" name="">
            <a:extLst xmlns:a="http://schemas.openxmlformats.org/drawingml/2006/main">
              <a:ext uri="{FF2B5EF4-FFF2-40B4-BE49-F238E27FC236}">
                <a16:creationId xmlns:a16="http://schemas.microsoft.com/office/drawing/2014/main" id="{B4495651-898F-48FB-9578-D5EA595025F3}"/>
              </a:ext>
            </a:extLst>
          </p:cNvPr>
          <p:cNvCxnSpPr>
            <a:stCxn xmlns:a="http://schemas.openxmlformats.org/drawingml/2006/main" id="3" idx="3"/>
            <a:endCxn xmlns:a="http://schemas.openxmlformats.org/drawingml/2006/main" id="4" idx="1"/>
          </p:cNvCxnSpPr>
          <p:nvPr/>
        </p:nvCxnSpPr>
        <p:spPr>
          <a:xfrm xmlns:a="http://schemas.openxmlformats.org/drawingml/2006/main">
            <a:off x="3667125" y="2881313"/>
            <a:ext cx="619125" cy="0"/>
          </a:xfrm>
          <a:prstGeom xmlns:a="http://schemas.openxmlformats.org/drawingml/2006/main" prst="straightConnector1">
            <a:avLst/>
          </a:prstGeom>
          <a:ln xmlns:a="http://schemas.openxmlformats.org/drawingml/2006/main" w="0">
            <a:solidFill>
              <a:srgbClr val="FFFFFF"/>
            </a:solidFill>
            <a:prstDash val="solid"/>
            <a:headEnd type="arrow" w="med" len="med"/>
          </a:ln>
        </p:spPr>
      </p:cxnSp>
      <p:cxnSp>
        <p:nvCxnSpPr>
          <p:cNvPr id="7" name="">
            <a:extLst xmlns:a="http://schemas.openxmlformats.org/drawingml/2006/main">
              <a:ext uri="{FF2B5EF4-FFF2-40B4-BE49-F238E27FC236}">
                <a16:creationId xmlns:a16="http://schemas.microsoft.com/office/drawing/2014/main" id="{592790BC-2335-4813-86EB-C79E91C45910}"/>
              </a:ext>
            </a:extLst>
          </p:cNvPr>
          <p:cNvCxnSpPr>
            <a:stCxn xmlns:a="http://schemas.openxmlformats.org/drawingml/2006/main" id="2" idx="3"/>
            <a:endCxn xmlns:a="http://schemas.openxmlformats.org/drawingml/2006/main" id="3" idx="1"/>
          </p:cNvCxnSpPr>
          <p:nvPr/>
        </p:nvCxnSpPr>
        <p:spPr>
          <a:xfrm xmlns:a="http://schemas.openxmlformats.org/drawingml/2006/main">
            <a:off x="1857375" y="2881313"/>
            <a:ext cx="619125" cy="0"/>
          </a:xfrm>
          <a:prstGeom xmlns:a="http://schemas.openxmlformats.org/drawingml/2006/main" prst="straightConnector1">
            <a:avLst/>
          </a:prstGeom>
          <a:ln xmlns:a="http://schemas.openxmlformats.org/drawingml/2006/main" w="0">
            <a:solidFill>
              <a:srgbClr val="FFFFFF"/>
            </a:solidFill>
            <a:prstDash val="solid"/>
            <a:headEnd type="arrow" w="med" len="med"/>
          </a:ln>
        </p:spPr>
      </p:cxnSp>
      <p:sp>
        <p:nvSpPr>
          <p:cNvPr id="13" name="">
            <a:extLst xmlns:a="http://schemas.openxmlformats.org/drawingml/2006/main">
              <a:ext uri="{FF2B5EF4-FFF2-40B4-BE49-F238E27FC236}">
                <a16:creationId xmlns:a16="http://schemas.microsoft.com/office/drawing/2014/main" id="{E62E4589-3764-4434-8A40-2C154C43E4CA}"/>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Proposed System Architecture</a:t>
            </a:r>
          </a:p>
        </p:txBody>
      </p:sp>
      <p:sp>
        <p:nvSpPr>
          <p:cNvPr id="2" name="">
            <a:extLst xmlns:a="http://schemas.openxmlformats.org/drawingml/2006/main">
              <a:ext uri="{FF2B5EF4-FFF2-40B4-BE49-F238E27FC236}">
                <a16:creationId xmlns:a16="http://schemas.microsoft.com/office/drawing/2014/main" id="{B624CF41-1C5D-460F-AF20-E65DFD826341}"/>
              </a:ext>
            </a:extLst>
          </p:cNvPr>
          <p:cNvSpPr>
            <a:spLocks xmlns:a="http://schemas.openxmlformats.org/drawingml/2006/main" noGrp="1"/>
          </p:cNvSpPr>
          <p:nvPr/>
        </p:nvSpPr>
        <p:spPr>
          <a:xfrm xmlns:a="http://schemas.openxmlformats.org/drawingml/2006/main">
            <a:off x="666750" y="2333625"/>
            <a:ext cx="1190625" cy="1095375"/>
          </a:xfrm>
          <a:prstGeom xmlns:a="http://schemas.openxmlformats.org/drawingml/2006/main" prst="roundRect">
            <a:avLst>
              <a:gd name="adj" fmla="val 6957"/>
            </a:avLst>
          </a:prstGeom>
          <a:solidFill xmlns:a="http://schemas.openxmlformats.org/drawingml/2006/main">
            <a:srgbClr val="EEF6EE"/>
          </a:solidFill>
          <a:ln xmlns:a="http://schemas.openxmlformats.org/drawingml/2006/main" w="14288">
            <a:solidFill>
              <a:srgbClr val="00B050"/>
            </a:solidFill>
            <a:prstDash val="solid"/>
          </a:ln>
        </p:spPr>
        <p:txBody>
          <a:bodyPr xmlns:a="http://schemas.openxmlformats.org/drawingml/2006/main"/>
          <a:lstStyle xmlns:a="http://schemas.openxmlformats.org/drawingml/2006/main">
            <a:defPPr algn="ctr">
              <a:defRPr sz="1050" b="1">
                <a:solidFill>
                  <a:srgbClr val="17365D"/>
                </a:solidFill>
                <a:latin typeface="Tahoma"/>
                <a:ea typeface="Tahoma"/>
                <a:cs typeface="Tahoma"/>
              </a:defRPr>
            </a:defPPr>
          </a:lstStyle>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Input</a:t>
            </a:r>
          </a:p>
          <a:p xmlns:a="http://schemas.openxmlformats.org/drawingml/2006/main">
            <a:r>
              <a:t/>
            </a:r>
          </a:p>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Upload .tf / .yaml</a:t>
            </a:r>
          </a:p>
        </p:txBody>
      </p:sp>
      <p:sp>
        <p:nvSpPr>
          <p:cNvPr id="3" name="">
            <a:extLst xmlns:a="http://schemas.openxmlformats.org/drawingml/2006/main">
              <a:ext uri="{FF2B5EF4-FFF2-40B4-BE49-F238E27FC236}">
                <a16:creationId xmlns:a16="http://schemas.microsoft.com/office/drawing/2014/main" id="{216E7AB4-78F1-4AE3-B426-DD62E8F1ADAF}"/>
              </a:ext>
            </a:extLst>
          </p:cNvPr>
          <p:cNvSpPr>
            <a:spLocks xmlns:a="http://schemas.openxmlformats.org/drawingml/2006/main" noGrp="1"/>
          </p:cNvSpPr>
          <p:nvPr/>
        </p:nvSpPr>
        <p:spPr>
          <a:xfrm xmlns:a="http://schemas.openxmlformats.org/drawingml/2006/main">
            <a:off x="2476500" y="2333625"/>
            <a:ext cx="1190625" cy="1095375"/>
          </a:xfrm>
          <a:prstGeom xmlns:a="http://schemas.openxmlformats.org/drawingml/2006/main" prst="roundRect">
            <a:avLst>
              <a:gd name="adj" fmla="val 6957"/>
            </a:avLst>
          </a:prstGeom>
          <a:solidFill xmlns:a="http://schemas.openxmlformats.org/drawingml/2006/main">
            <a:srgbClr val="EEF6EE"/>
          </a:solidFill>
          <a:ln xmlns:a="http://schemas.openxmlformats.org/drawingml/2006/main" w="14288">
            <a:solidFill>
              <a:srgbClr val="00B050"/>
            </a:solidFill>
            <a:prstDash val="solid"/>
          </a:ln>
        </p:spPr>
        <p:txBody>
          <a:bodyPr xmlns:a="http://schemas.openxmlformats.org/drawingml/2006/main"/>
          <a:lstStyle xmlns:a="http://schemas.openxmlformats.org/drawingml/2006/main">
            <a:defPPr algn="ctr">
              <a:defRPr sz="1050" b="1">
                <a:solidFill>
                  <a:srgbClr val="17365D"/>
                </a:solidFill>
                <a:latin typeface="Tahoma"/>
                <a:ea typeface="Tahoma"/>
                <a:cs typeface="Tahoma"/>
              </a:defRPr>
            </a:defPPr>
          </a:lstStyle>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Detection</a:t>
            </a:r>
          </a:p>
          <a:p xmlns:a="http://schemas.openxmlformats.org/drawingml/2006/main">
            <a:r>
              <a:t/>
            </a:r>
          </a:p>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Evaluate policy SIDs</a:t>
            </a:r>
          </a:p>
        </p:txBody>
      </p:sp>
      <p:sp>
        <p:nvSpPr>
          <p:cNvPr id="4" name="">
            <a:extLst xmlns:a="http://schemas.openxmlformats.org/drawingml/2006/main">
              <a:ext uri="{FF2B5EF4-FFF2-40B4-BE49-F238E27FC236}">
                <a16:creationId xmlns:a16="http://schemas.microsoft.com/office/drawing/2014/main" id="{936E8F4B-015E-4EF7-B7A4-4578C3EF2213}"/>
              </a:ext>
            </a:extLst>
          </p:cNvPr>
          <p:cNvSpPr>
            <a:spLocks xmlns:a="http://schemas.openxmlformats.org/drawingml/2006/main" noGrp="1"/>
          </p:cNvSpPr>
          <p:nvPr/>
        </p:nvSpPr>
        <p:spPr>
          <a:xfrm xmlns:a="http://schemas.openxmlformats.org/drawingml/2006/main">
            <a:off x="4286250" y="2333625"/>
            <a:ext cx="1190625" cy="1095375"/>
          </a:xfrm>
          <a:prstGeom xmlns:a="http://schemas.openxmlformats.org/drawingml/2006/main" prst="roundRect">
            <a:avLst>
              <a:gd name="adj" fmla="val 6957"/>
            </a:avLst>
          </a:prstGeom>
          <a:solidFill xmlns:a="http://schemas.openxmlformats.org/drawingml/2006/main">
            <a:srgbClr val="EEF6EE"/>
          </a:solidFill>
          <a:ln xmlns:a="http://schemas.openxmlformats.org/drawingml/2006/main" w="14288">
            <a:solidFill>
              <a:srgbClr val="00B050"/>
            </a:solidFill>
            <a:prstDash val="solid"/>
          </a:ln>
        </p:spPr>
        <p:txBody>
          <a:bodyPr xmlns:a="http://schemas.openxmlformats.org/drawingml/2006/main"/>
          <a:lstStyle xmlns:a="http://schemas.openxmlformats.org/drawingml/2006/main">
            <a:defPPr algn="ctr">
              <a:defRPr sz="1050" b="1">
                <a:solidFill>
                  <a:srgbClr val="17365D"/>
                </a:solidFill>
                <a:latin typeface="Tahoma"/>
                <a:ea typeface="Tahoma"/>
                <a:cs typeface="Tahoma"/>
              </a:defRPr>
            </a:defPPr>
          </a:lstStyle>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Risk Assessment</a:t>
            </a:r>
          </a:p>
          <a:p xmlns:a="http://schemas.openxmlformats.org/drawingml/2006/main">
            <a:r>
              <a:t/>
            </a:r>
          </a:p>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Severity + score</a:t>
            </a:r>
          </a:p>
        </p:txBody>
      </p:sp>
      <p:sp>
        <p:nvSpPr>
          <p:cNvPr id="5" name="">
            <a:extLst xmlns:a="http://schemas.openxmlformats.org/drawingml/2006/main">
              <a:ext uri="{FF2B5EF4-FFF2-40B4-BE49-F238E27FC236}">
                <a16:creationId xmlns:a16="http://schemas.microsoft.com/office/drawing/2014/main" id="{678EB75D-37DD-4C77-9D1F-16254092F644}"/>
              </a:ext>
            </a:extLst>
          </p:cNvPr>
          <p:cNvSpPr>
            <a:spLocks xmlns:a="http://schemas.openxmlformats.org/drawingml/2006/main" noGrp="1"/>
          </p:cNvSpPr>
          <p:nvPr/>
        </p:nvSpPr>
        <p:spPr>
          <a:xfrm xmlns:a="http://schemas.openxmlformats.org/drawingml/2006/main">
            <a:off x="6096000" y="2333625"/>
            <a:ext cx="1190625" cy="1095375"/>
          </a:xfrm>
          <a:prstGeom xmlns:a="http://schemas.openxmlformats.org/drawingml/2006/main" prst="roundRect">
            <a:avLst>
              <a:gd name="adj" fmla="val 6957"/>
            </a:avLst>
          </a:prstGeom>
          <a:solidFill xmlns:a="http://schemas.openxmlformats.org/drawingml/2006/main">
            <a:srgbClr val="EEF6EE"/>
          </a:solidFill>
          <a:ln xmlns:a="http://schemas.openxmlformats.org/drawingml/2006/main" w="14288">
            <a:solidFill>
              <a:srgbClr val="00B050"/>
            </a:solidFill>
            <a:prstDash val="solid"/>
          </a:ln>
        </p:spPr>
        <p:txBody>
          <a:bodyPr xmlns:a="http://schemas.openxmlformats.org/drawingml/2006/main"/>
          <a:lstStyle xmlns:a="http://schemas.openxmlformats.org/drawingml/2006/main">
            <a:defPPr algn="ctr">
              <a:defRPr sz="1050" b="1">
                <a:solidFill>
                  <a:srgbClr val="17365D"/>
                </a:solidFill>
                <a:latin typeface="Tahoma"/>
                <a:ea typeface="Tahoma"/>
                <a:cs typeface="Tahoma"/>
              </a:defRPr>
            </a:defPPr>
          </a:lstStyle>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Source Repair</a:t>
            </a:r>
          </a:p>
          <a:p xmlns:a="http://schemas.openxmlformats.org/drawingml/2006/main">
            <a:r>
              <a:t/>
            </a:r>
          </a:p>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Patch and re-scan</a:t>
            </a:r>
          </a:p>
        </p:txBody>
      </p:sp>
      <p:sp>
        <p:nvSpPr>
          <p:cNvPr id="6" name="">
            <a:extLst xmlns:a="http://schemas.openxmlformats.org/drawingml/2006/main">
              <a:ext uri="{FF2B5EF4-FFF2-40B4-BE49-F238E27FC236}">
                <a16:creationId xmlns:a16="http://schemas.microsoft.com/office/drawing/2014/main" id="{47996893-8BBC-4FA4-8997-A796CB5F18A6}"/>
              </a:ext>
            </a:extLst>
          </p:cNvPr>
          <p:cNvSpPr>
            <a:spLocks xmlns:a="http://schemas.openxmlformats.org/drawingml/2006/main" noGrp="1"/>
          </p:cNvSpPr>
          <p:nvPr/>
        </p:nvSpPr>
        <p:spPr>
          <a:xfrm xmlns:a="http://schemas.openxmlformats.org/drawingml/2006/main">
            <a:off x="7524750" y="2333625"/>
            <a:ext cx="1190625" cy="1095375"/>
          </a:xfrm>
          <a:prstGeom xmlns:a="http://schemas.openxmlformats.org/drawingml/2006/main" prst="roundRect">
            <a:avLst>
              <a:gd name="adj" fmla="val 6957"/>
            </a:avLst>
          </a:prstGeom>
          <a:solidFill xmlns:a="http://schemas.openxmlformats.org/drawingml/2006/main">
            <a:srgbClr val="EEF6EE"/>
          </a:solidFill>
          <a:ln xmlns:a="http://schemas.openxmlformats.org/drawingml/2006/main" w="14288">
            <a:solidFill>
              <a:srgbClr val="00B050"/>
            </a:solidFill>
            <a:prstDash val="solid"/>
          </a:ln>
        </p:spPr>
        <p:txBody>
          <a:bodyPr xmlns:a="http://schemas.openxmlformats.org/drawingml/2006/main"/>
          <a:lstStyle xmlns:a="http://schemas.openxmlformats.org/drawingml/2006/main">
            <a:defPPr algn="ctr">
              <a:defRPr sz="1050" b="1">
                <a:solidFill>
                  <a:srgbClr val="17365D"/>
                </a:solidFill>
                <a:latin typeface="Tahoma"/>
                <a:ea typeface="Tahoma"/>
                <a:cs typeface="Tahoma"/>
              </a:defRPr>
            </a:defPPr>
          </a:lstStyle>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Deployment Gate</a:t>
            </a:r>
          </a:p>
          <a:p xmlns:a="http://schemas.openxmlformats.org/drawingml/2006/main">
            <a:r>
              <a:t/>
            </a:r>
          </a:p>
          <a:p xmlns:a="http://schemas.openxmlformats.org/drawingml/2006/main">
            <a:pPr algn="ctr">
              <a:buNone/>
              <a:defRPr sz="1050" b="1">
                <a:solidFill>
                  <a:srgbClr val="17365D"/>
                </a:solidFill>
                <a:latin typeface="Tahoma"/>
                <a:ea typeface="Tahoma"/>
                <a:cs typeface="Tahoma"/>
              </a:defRPr>
            </a:pPr>
            <a:r>
              <a:rPr sz="1050" b="1">
                <a:solidFill>
                  <a:srgbClr val="17365D"/>
                </a:solidFill>
                <a:latin typeface="Tahoma"/>
                <a:ea typeface="Tahoma"/>
                <a:cs typeface="Tahoma"/>
              </a:rPr>
              <a:t>ALLOW or BLOCK</a:t>
            </a:r>
          </a:p>
        </p:txBody>
      </p:sp>
      <p:sp>
        <p:nvSpPr>
          <p:cNvPr id="11" name="">
            <a:extLst xmlns:a="http://schemas.openxmlformats.org/drawingml/2006/main">
              <a:ext uri="{FF2B5EF4-FFF2-40B4-BE49-F238E27FC236}">
                <a16:creationId xmlns:a16="http://schemas.microsoft.com/office/drawing/2014/main" id="{6CDA84D8-0817-4670-AC2E-D8A94D39CD7F}"/>
              </a:ext>
            </a:extLst>
          </p:cNvPr>
          <p:cNvSpPr>
            <a:spLocks xmlns:a="http://schemas.openxmlformats.org/drawingml/2006/main" noGrp="1"/>
          </p:cNvSpPr>
          <p:nvPr/>
        </p:nvSpPr>
        <p:spPr>
          <a:xfrm xmlns:a="http://schemas.openxmlformats.org/drawingml/2006/main">
            <a:off x="1190625" y="409575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425" b="1">
                <a:solidFill>
                  <a:srgbClr val="006600"/>
                </a:solidFill>
                <a:latin typeface="Tahoma"/>
                <a:ea typeface="Tahoma"/>
                <a:cs typeface="Tahoma"/>
              </a:defRPr>
            </a:defPPr>
          </a:lstStyle>
          <a:p xmlns:a="http://schemas.openxmlformats.org/drawingml/2006/main">
            <a:pPr algn="ctr">
              <a:buNone/>
              <a:defRPr sz="1425" b="1">
                <a:solidFill>
                  <a:srgbClr val="006600"/>
                </a:solidFill>
                <a:latin typeface="Tahoma"/>
                <a:ea typeface="Tahoma"/>
                <a:cs typeface="Tahoma"/>
              </a:defRPr>
            </a:pPr>
            <a:r>
              <a:rPr sz="1425" b="1">
                <a:solidFill>
                  <a:srgbClr val="006600"/>
                </a:solidFill>
                <a:latin typeface="Tahoma"/>
                <a:ea typeface="Tahoma"/>
                <a:cs typeface="Tahoma"/>
              </a:rPr>
              <a:t>Local workflow: upload -&gt; detect -&gt; repair -&gt; re-scan -&gt; gate</a:t>
            </a:r>
          </a:p>
        </p:txBody>
      </p:sp>
      <p:sp>
        <p:nvSpPr>
          <p:cNvPr id="12" name="">
            <a:extLst xmlns:a="http://schemas.openxmlformats.org/drawingml/2006/main">
              <a:ext uri="{FF2B5EF4-FFF2-40B4-BE49-F238E27FC236}">
                <a16:creationId xmlns:a16="http://schemas.microsoft.com/office/drawing/2014/main" id="{B1743716-A859-43C3-8A72-D3A854D5C110}"/>
              </a:ext>
            </a:extLst>
          </p:cNvPr>
          <p:cNvSpPr>
            <a:spLocks xmlns:a="http://schemas.openxmlformats.org/drawingml/2006/main" noGrp="1"/>
          </p:cNvSpPr>
          <p:nvPr/>
        </p:nvSpPr>
        <p:spPr>
          <a:xfrm xmlns:a="http://schemas.openxmlformats.org/drawingml/2006/main">
            <a:off x="1524000" y="47625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350">
                <a:solidFill>
                  <a:srgbClr val="000000"/>
                </a:solidFill>
                <a:latin typeface="Tahoma"/>
                <a:ea typeface="Tahoma"/>
                <a:cs typeface="Tahoma"/>
              </a:defRPr>
            </a:defPPr>
          </a:lstStyle>
          <a:p xmlns:a="http://schemas.openxmlformats.org/drawingml/2006/main">
            <a:pPr algn="ctr">
              <a:buNone/>
              <a:defRPr sz="1350">
                <a:solidFill>
                  <a:srgbClr val="000000"/>
                </a:solidFill>
                <a:latin typeface="Tahoma"/>
                <a:ea typeface="Tahoma"/>
                <a:cs typeface="Tahoma"/>
              </a:defRPr>
            </a:pPr>
            <a:r>
              <a:rPr sz="1350">
                <a:solidFill>
                  <a:srgbClr val="000000"/>
                </a:solidFill>
                <a:latin typeface="Tahoma"/>
                <a:ea typeface="Tahoma"/>
                <a:cs typeface="Tahoma"/>
              </a:rPr>
              <a:t>No AWS deployment | No credentials | Terraform + CloudFormation only</a:t>
            </a:r>
          </a:p>
        </p:txBody>
      </p:sp>
      <p:cxnSp>
        <p:nvCxnSpPr>
          <p:cNvPr id="14" name="">
            <a:extLst xmlns:a="http://schemas.openxmlformats.org/drawingml/2006/main">
              <a:ext uri="{FF2B5EF4-FFF2-40B4-BE49-F238E27FC236}">
                <a16:creationId xmlns:a16="http://schemas.microsoft.com/office/drawing/2014/main" id="{EF0F068C-F8F1-489F-832E-40A57FE75468}"/>
              </a:ext>
            </a:extLst>
          </p:cNvPr>
          <p:cNvCxnSpPr>
            <a:stCxn xmlns:a="http://schemas.openxmlformats.org/drawingml/2006/main" id="2" idx="3"/>
            <a:endCxn xmlns:a="http://schemas.openxmlformats.org/drawingml/2006/main" id="3" idx="1"/>
          </p:cNvCxnSpPr>
          <p:nvPr/>
        </p:nvCxnSpPr>
        <p:spPr>
          <a:xfrm xmlns:a="http://schemas.openxmlformats.org/drawingml/2006/main">
            <a:off x="1857375" y="2881313"/>
            <a:ext cx="619125" cy="0"/>
          </a:xfrm>
          <a:prstGeom xmlns:a="http://schemas.openxmlformats.org/drawingml/2006/main" prst="straightConnector1">
            <a:avLst/>
          </a:prstGeom>
          <a:ln xmlns:a="http://schemas.openxmlformats.org/drawingml/2006/main" w="19050">
            <a:solidFill>
              <a:srgbClr val="00B050"/>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208DCC9C-EBB6-43FB-900B-47321BCE715D}"/>
              </a:ext>
            </a:extLst>
          </p:cNvPr>
          <p:cNvCxnSpPr>
            <a:stCxn xmlns:a="http://schemas.openxmlformats.org/drawingml/2006/main" id="3" idx="3"/>
            <a:endCxn xmlns:a="http://schemas.openxmlformats.org/drawingml/2006/main" id="4" idx="1"/>
          </p:cNvCxnSpPr>
          <p:nvPr/>
        </p:nvCxnSpPr>
        <p:spPr>
          <a:xfrm xmlns:a="http://schemas.openxmlformats.org/drawingml/2006/main">
            <a:off x="3667125" y="2881313"/>
            <a:ext cx="619125" cy="0"/>
          </a:xfrm>
          <a:prstGeom xmlns:a="http://schemas.openxmlformats.org/drawingml/2006/main" prst="straightConnector1">
            <a:avLst/>
          </a:prstGeom>
          <a:ln xmlns:a="http://schemas.openxmlformats.org/drawingml/2006/main" w="19050">
            <a:solidFill>
              <a:srgbClr val="00B050"/>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A80760D6-8732-4888-983E-0F759462E6FF}"/>
              </a:ext>
            </a:extLst>
          </p:cNvPr>
          <p:cNvCxnSpPr>
            <a:stCxn xmlns:a="http://schemas.openxmlformats.org/drawingml/2006/main" id="4" idx="3"/>
            <a:endCxn xmlns:a="http://schemas.openxmlformats.org/drawingml/2006/main" id="5" idx="1"/>
          </p:cNvCxnSpPr>
          <p:nvPr/>
        </p:nvCxnSpPr>
        <p:spPr>
          <a:xfrm xmlns:a="http://schemas.openxmlformats.org/drawingml/2006/main">
            <a:off x="5476875" y="2881313"/>
            <a:ext cx="619125" cy="0"/>
          </a:xfrm>
          <a:prstGeom xmlns:a="http://schemas.openxmlformats.org/drawingml/2006/main" prst="straightConnector1">
            <a:avLst/>
          </a:prstGeom>
          <a:ln xmlns:a="http://schemas.openxmlformats.org/drawingml/2006/main" w="19050">
            <a:solidFill>
              <a:srgbClr val="00B050"/>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B979B034-DEDE-4C6A-916F-7419557C054F}"/>
              </a:ext>
            </a:extLst>
          </p:cNvPr>
          <p:cNvCxnSpPr>
            <a:stCxn xmlns:a="http://schemas.openxmlformats.org/drawingml/2006/main" id="5" idx="3"/>
            <a:endCxn xmlns:a="http://schemas.openxmlformats.org/drawingml/2006/main" id="6" idx="1"/>
          </p:cNvCxnSpPr>
          <p:nvPr/>
        </p:nvCxnSpPr>
        <p:spPr>
          <a:xfrm xmlns:a="http://schemas.openxmlformats.org/drawingml/2006/main">
            <a:off x="7286625" y="2881313"/>
            <a:ext cx="238125" cy="0"/>
          </a:xfrm>
          <a:prstGeom xmlns:a="http://schemas.openxmlformats.org/drawingml/2006/main" prst="straightConnector1">
            <a:avLst/>
          </a:prstGeom>
          <a:ln xmlns:a="http://schemas.openxmlformats.org/drawingml/2006/main" w="19050">
            <a:solidFill>
              <a:srgbClr val="00B050"/>
            </a:solidFill>
            <a:prstDash val="solid"/>
            <a:tailEnd type="arrow" w="med" len="med"/>
          </a:ln>
        </p:spPr>
      </p:cxnSp>
    </p:spTree>
    <p:extLst>
      <p:ext uri="{BB962C8B-B14F-4D97-AF65-F5344CB8AC3E}">
        <p14:creationId xmlns:p14="http://schemas.microsoft.com/office/powerpoint/2010/main" val="18123951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48F5132-71FC-46FC-BA08-893726A797AB}"/>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Proposed Methodology</a:t>
            </a:r>
          </a:p>
        </p:txBody>
      </p:sp>
      <p:sp>
        <p:nvSpPr>
          <p:cNvPr id="2" name="">
            <a:extLst xmlns:a="http://schemas.openxmlformats.org/drawingml/2006/main">
              <a:ext uri="{FF2B5EF4-FFF2-40B4-BE49-F238E27FC236}">
                <a16:creationId xmlns:a16="http://schemas.microsoft.com/office/drawing/2014/main" id="{DC6E4599-65E2-40A8-A580-CE12D5F25E1D}"/>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a:solidFill>
                  <a:srgbClr val="000000"/>
                </a:solidFill>
                <a:latin typeface="Tahoma"/>
                <a:ea typeface="Tahoma"/>
                <a:cs typeface="Tahoma"/>
              </a:defRPr>
            </a:defPPr>
          </a:lstStyle>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Implementation flow:</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1. Upload a Terraform or CloudFormation file in the browser.</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2. Detect the five implemented AWS policy SIDs and calculate a transparent relative risk score.</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3. Apply deterministic source edits only for public S3 access, public RDS access, and disabled RDS encryption.</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4. Keep IAM wildcard permissions and unrestricted network access without approved intent for manual review.</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
            </a:r>
          </a:p>
          <a:p xmlns:a="http://schemas.openxmlformats.org/drawingml/2006/main">
            <a:r>
              <a:t>5. Re-scan the repaired copy and report which findings cleared.</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6. Evaluate the configured threshold and return ALLOW or BLOCK. The prototype never performs an AWS deployment.</a:t>
            </a:r>
          </a:p>
        </p:txBody>
      </p:sp>
    </p:spTree>
    <p:extLst>
      <p:ext uri="{BB962C8B-B14F-4D97-AF65-F5344CB8AC3E}">
        <p14:creationId xmlns:p14="http://schemas.microsoft.com/office/powerpoint/2010/main" val="2677782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6511108-364B-4772-A901-8667B241DD2B}"/>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Risk Assessment Logic</a:t>
            </a:r>
          </a:p>
        </p:txBody>
      </p:sp>
      <p:sp>
        <p:nvSpPr>
          <p:cNvPr id="2" name="">
            <a:extLst xmlns:a="http://schemas.openxmlformats.org/drawingml/2006/main">
              <a:ext uri="{FF2B5EF4-FFF2-40B4-BE49-F238E27FC236}">
                <a16:creationId xmlns:a16="http://schemas.microsoft.com/office/drawing/2014/main" id="{1AFA6D83-F602-44AF-AC1C-0E2F207A597D}"/>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CloudGuard uses a transparent relative-prioritization model rather than a probability of compromise.</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Risk score = baseline score - sum of applicable rule deductions</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Each deduction is associated with a detected policy condition and is defined by the CloudGuard implementation. Severity and the score help order attention; they are not official AWS risk values.</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The score is calculated after policy detection and is shown with the affected resource, policy SID, explanation, and remediation guidance.</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For reproducibility, the implementation source and evidence package are the authoritative locations for the current rule weights. No unverified weights are added to this review deck.</a:t>
            </a:r>
          </a:p>
        </p:txBody>
      </p:sp>
    </p:spTree>
    <p:extLst>
      <p:ext uri="{BB962C8B-B14F-4D97-AF65-F5344CB8AC3E}">
        <p14:creationId xmlns:p14="http://schemas.microsoft.com/office/powerpoint/2010/main" val="2725040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5B08A37-B078-457D-BE91-FFAA592529E8}"/>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Existing Methodologies</a:t>
            </a:r>
          </a:p>
        </p:txBody>
      </p:sp>
      <p:sp>
        <p:nvSpPr>
          <p:cNvPr id="2" name="">
            <a:extLst xmlns:a="http://schemas.openxmlformats.org/drawingml/2006/main">
              <a:ext uri="{FF2B5EF4-FFF2-40B4-BE49-F238E27FC236}">
                <a16:creationId xmlns:a16="http://schemas.microsoft.com/office/drawing/2014/main" id="{4B4F3A84-DC31-4EAC-B11C-19FC1588A01E}"/>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a:solidFill>
                  <a:srgbClr val="000000"/>
                </a:solidFill>
                <a:latin typeface="Tahoma"/>
                <a:ea typeface="Tahoma"/>
                <a:cs typeface="Tahoma"/>
              </a:defRPr>
            </a:defPPr>
          </a:lstStyle>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Manual IaC review: developers inspect Terraform and CloudFormation files line by line and compare settings with security guidance.</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Rule-based scanners: tools such as Checkov, KICS, and Trivy evaluate predefined controls and produce tool-specific findings.</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Cloud-provider guidance: AWS security practices describe least privilege, restricted public access, encryption, and secure network configuration.</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Research direction: prior policy-analysis work motivates consistent policy semantics and comparison across analyzers.</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CloudGuard position: it provides a focused, upload-first explanation layer for selected AWS IaC policies and is complementary to broader scanners.</a:t>
            </a:r>
          </a:p>
        </p:txBody>
      </p:sp>
    </p:spTree>
    <p:extLst>
      <p:ext uri="{BB962C8B-B14F-4D97-AF65-F5344CB8AC3E}">
        <p14:creationId xmlns:p14="http://schemas.microsoft.com/office/powerpoint/2010/main" val="205649044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26F6253-B4DD-497C-AECF-8ACE5823C6F8}"/>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Existing Methodology Drawbacks</a:t>
            </a:r>
          </a:p>
        </p:txBody>
      </p:sp>
      <p:sp>
        <p:nvSpPr>
          <p:cNvPr id="2" name="">
            <a:extLst xmlns:a="http://schemas.openxmlformats.org/drawingml/2006/main">
              <a:ext uri="{FF2B5EF4-FFF2-40B4-BE49-F238E27FC236}">
                <a16:creationId xmlns:a16="http://schemas.microsoft.com/office/drawing/2014/main" id="{49EE821B-3B23-4D11-A8D9-0EE7ADBEEE42}"/>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Manual review is slow and can miss repeated configuration patterns.</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Different scanners use different rule identifiers, severity scales, and remediation wording.</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 finding list alone may not explain the affected resource or the reason for its priority.</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Broad scanners can be difficult for a student or developer to use during an early design review.</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Existing tools do not automatically provide a common CloudGuard policy-instance representation.</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CloudGuard currently addresses explanation and workflow usability, but its five-rule prototype does not replace comprehensive production scanners.</a:t>
            </a:r>
          </a:p>
        </p:txBody>
      </p:sp>
    </p:spTree>
    <p:extLst>
      <p:ext uri="{BB962C8B-B14F-4D97-AF65-F5344CB8AC3E}">
        <p14:creationId xmlns:p14="http://schemas.microsoft.com/office/powerpoint/2010/main" val="4941178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00941B-F0EC-484C-B4F2-9C4CC7ED8632}"/>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CloudGuard Interface Workflow</a:t>
            </a:r>
          </a:p>
        </p:txBody>
      </p:sp>
      <p:sp>
        <p:nvSpPr>
          <p:cNvPr id="2" name="">
            <a:extLst xmlns:a="http://schemas.openxmlformats.org/drawingml/2006/main">
              <a:ext uri="{FF2B5EF4-FFF2-40B4-BE49-F238E27FC236}">
                <a16:creationId xmlns:a16="http://schemas.microsoft.com/office/drawing/2014/main" id="{BEC38267-E3EA-4B60-A506-AE5C9039179E}"/>
              </a:ext>
            </a:extLst>
          </p:cNvPr>
          <p:cNvSpPr>
            <a:spLocks xmlns:a="http://schemas.openxmlformats.org/drawingml/2006/main" noGrp="1"/>
          </p:cNvSpPr>
          <p:nvPr/>
        </p:nvSpPr>
        <p:spPr>
          <a:xfrm xmlns:a="http://schemas.openxmlformats.org/drawingml/2006/main">
            <a:off x="619125" y="1095375"/>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500">
                <a:solidFill>
                  <a:srgbClr val="000000"/>
                </a:solidFill>
                <a:latin typeface="Tahoma"/>
                <a:ea typeface="Tahoma"/>
                <a:cs typeface="Tahoma"/>
              </a:defRPr>
            </a:defPPr>
          </a:lstStyle>
          <a:p xmlns:a="http://schemas.openxmlformats.org/drawingml/2006/main">
            <a:pPr algn="ctr">
              <a:buNone/>
              <a:defRPr sz="1500">
                <a:solidFill>
                  <a:srgbClr val="000000"/>
                </a:solidFill>
                <a:latin typeface="Tahoma"/>
                <a:ea typeface="Tahoma"/>
                <a:cs typeface="Tahoma"/>
              </a:defRPr>
            </a:pPr>
            <a:r>
              <a:rPr sz="1500">
                <a:solidFill>
                  <a:srgbClr val="000000"/>
                </a:solidFill>
                <a:latin typeface="Tahoma"/>
                <a:ea typeface="Tahoma"/>
                <a:cs typeface="Tahoma"/>
              </a:rPr>
              <a:t>The project interface is designed around a simple upload-and-review workflow.</a:t>
            </a:r>
          </a:p>
        </p:txBody>
      </p:sp>
      <p:sp>
        <p:nvSpPr>
          <p:cNvPr id="3" name="">
            <a:extLst xmlns:a="http://schemas.openxmlformats.org/drawingml/2006/main">
              <a:ext uri="{FF2B5EF4-FFF2-40B4-BE49-F238E27FC236}">
                <a16:creationId xmlns:a16="http://schemas.microsoft.com/office/drawing/2014/main" id="{8A280BB8-176D-4EA4-A015-39D627911A2B}"/>
              </a:ext>
            </a:extLst>
          </p:cNvPr>
          <p:cNvSpPr>
            <a:spLocks xmlns:a="http://schemas.openxmlformats.org/drawingml/2006/main" noGrp="1"/>
          </p:cNvSpPr>
          <p:nvPr/>
        </p:nvSpPr>
        <p:spPr>
          <a:xfrm xmlns:a="http://schemas.openxmlformats.org/drawingml/2006/main">
            <a:off x="714375" y="1809750"/>
            <a:ext cx="2238375" cy="1190625"/>
          </a:xfrm>
          <a:prstGeom xmlns:a="http://schemas.openxmlformats.org/drawingml/2006/main" prst="roundRect">
            <a:avLst>
              <a:gd name="adj" fmla="val 6400"/>
            </a:avLst>
          </a:prstGeom>
          <a:solidFill xmlns:a="http://schemas.openxmlformats.org/drawingml/2006/main">
            <a:srgbClr val="2F80ED"/>
          </a:solidFill>
          <a:ln xmlns:a="http://schemas.openxmlformats.org/drawingml/2006/main" w="9525">
            <a:solidFill>
              <a:srgbClr val="2F80ED"/>
            </a:solidFill>
            <a:prstDash val="solid"/>
          </a:ln>
        </p:spPr>
        <p:txBody>
          <a:bodyPr xmlns:a="http://schemas.openxmlformats.org/drawingml/2006/main"/>
          <a:lstStyle xmlns:a="http://schemas.openxmlformats.org/drawingml/2006/main">
            <a:defPPr algn="ctr">
              <a:defRPr sz="1200" b="1">
                <a:solidFill>
                  <a:srgbClr val="FFFFFF"/>
                </a:solidFill>
                <a:latin typeface="Tahoma"/>
                <a:ea typeface="Tahoma"/>
                <a:cs typeface="Tahoma"/>
              </a:defRPr>
            </a:defPPr>
          </a:lstStyle>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Upload and Scan</a:t>
            </a:r>
          </a:p>
          <a:p xmlns:a="http://schemas.openxmlformats.org/drawingml/2006/main">
            <a:r>
              <a:t/>
            </a:r>
          </a:p>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Select Terraform or CloudFormation</a:t>
            </a:r>
          </a:p>
        </p:txBody>
      </p:sp>
      <p:sp>
        <p:nvSpPr>
          <p:cNvPr id="4" name="">
            <a:extLst xmlns:a="http://schemas.openxmlformats.org/drawingml/2006/main">
              <a:ext uri="{FF2B5EF4-FFF2-40B4-BE49-F238E27FC236}">
                <a16:creationId xmlns:a16="http://schemas.microsoft.com/office/drawing/2014/main" id="{A99C7974-EDBB-40A7-93F6-0A6C07C7D170}"/>
              </a:ext>
            </a:extLst>
          </p:cNvPr>
          <p:cNvSpPr>
            <a:spLocks xmlns:a="http://schemas.openxmlformats.org/drawingml/2006/main" noGrp="1"/>
          </p:cNvSpPr>
          <p:nvPr/>
        </p:nvSpPr>
        <p:spPr>
          <a:xfrm xmlns:a="http://schemas.openxmlformats.org/drawingml/2006/main">
            <a:off x="3429000" y="1809750"/>
            <a:ext cx="2238375" cy="1190625"/>
          </a:xfrm>
          <a:prstGeom xmlns:a="http://schemas.openxmlformats.org/drawingml/2006/main" prst="roundRect">
            <a:avLst>
              <a:gd name="adj" fmla="val 6400"/>
            </a:avLst>
          </a:prstGeom>
          <a:solidFill xmlns:a="http://schemas.openxmlformats.org/drawingml/2006/main">
            <a:srgbClr val="6C45D9"/>
          </a:solidFill>
          <a:ln xmlns:a="http://schemas.openxmlformats.org/drawingml/2006/main" w="9525">
            <a:solidFill>
              <a:srgbClr val="6C45D9"/>
            </a:solidFill>
            <a:prstDash val="solid"/>
          </a:ln>
        </p:spPr>
        <p:txBody>
          <a:bodyPr xmlns:a="http://schemas.openxmlformats.org/drawingml/2006/main"/>
          <a:lstStyle xmlns:a="http://schemas.openxmlformats.org/drawingml/2006/main">
            <a:defPPr algn="ctr">
              <a:defRPr sz="1200" b="1">
                <a:solidFill>
                  <a:srgbClr val="FFFFFF"/>
                </a:solidFill>
                <a:latin typeface="Tahoma"/>
                <a:ea typeface="Tahoma"/>
                <a:cs typeface="Tahoma"/>
              </a:defRPr>
            </a:defPPr>
          </a:lstStyle>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Policy Findings</a:t>
            </a:r>
          </a:p>
          <a:p xmlns:a="http://schemas.openxmlformats.org/drawingml/2006/main">
            <a:r>
              <a:t/>
            </a:r>
          </a:p>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Review SID, severity, resource, and reason</a:t>
            </a:r>
          </a:p>
        </p:txBody>
      </p:sp>
      <p:sp>
        <p:nvSpPr>
          <p:cNvPr id="5" name="">
            <a:extLst xmlns:a="http://schemas.openxmlformats.org/drawingml/2006/main">
              <a:ext uri="{FF2B5EF4-FFF2-40B4-BE49-F238E27FC236}">
                <a16:creationId xmlns:a16="http://schemas.microsoft.com/office/drawing/2014/main" id="{82FBE053-840A-4DE2-A2FA-4BF688F15F2D}"/>
              </a:ext>
            </a:extLst>
          </p:cNvPr>
          <p:cNvSpPr>
            <a:spLocks xmlns:a="http://schemas.openxmlformats.org/drawingml/2006/main" noGrp="1"/>
          </p:cNvSpPr>
          <p:nvPr/>
        </p:nvSpPr>
        <p:spPr>
          <a:xfrm xmlns:a="http://schemas.openxmlformats.org/drawingml/2006/main">
            <a:off x="6143625" y="1809750"/>
            <a:ext cx="2238375" cy="1190625"/>
          </a:xfrm>
          <a:prstGeom xmlns:a="http://schemas.openxmlformats.org/drawingml/2006/main" prst="roundRect">
            <a:avLst>
              <a:gd name="adj" fmla="val 6400"/>
            </a:avLst>
          </a:prstGeom>
          <a:solidFill xmlns:a="http://schemas.openxmlformats.org/drawingml/2006/main">
            <a:srgbClr val="F39C12"/>
          </a:solidFill>
          <a:ln xmlns:a="http://schemas.openxmlformats.org/drawingml/2006/main" w="9525">
            <a:solidFill>
              <a:srgbClr val="F39C12"/>
            </a:solidFill>
            <a:prstDash val="solid"/>
          </a:ln>
        </p:spPr>
        <p:txBody>
          <a:bodyPr xmlns:a="http://schemas.openxmlformats.org/drawingml/2006/main"/>
          <a:lstStyle xmlns:a="http://schemas.openxmlformats.org/drawingml/2006/main">
            <a:defPPr algn="ctr">
              <a:defRPr sz="1200" b="1">
                <a:solidFill>
                  <a:srgbClr val="FFFFFF"/>
                </a:solidFill>
                <a:latin typeface="Tahoma"/>
                <a:ea typeface="Tahoma"/>
                <a:cs typeface="Tahoma"/>
              </a:defRPr>
            </a:defPPr>
          </a:lstStyle>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Risk Score</a:t>
            </a:r>
          </a:p>
          <a:p xmlns:a="http://schemas.openxmlformats.org/drawingml/2006/main">
            <a:r>
              <a:t/>
            </a:r>
          </a:p>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See transparent relative prioritization</a:t>
            </a:r>
          </a:p>
        </p:txBody>
      </p:sp>
      <p:sp>
        <p:nvSpPr>
          <p:cNvPr id="6" name="">
            <a:extLst xmlns:a="http://schemas.openxmlformats.org/drawingml/2006/main">
              <a:ext uri="{FF2B5EF4-FFF2-40B4-BE49-F238E27FC236}">
                <a16:creationId xmlns:a16="http://schemas.microsoft.com/office/drawing/2014/main" id="{0E1803FA-006A-43A9-90EF-E6C3D084EB4E}"/>
              </a:ext>
            </a:extLst>
          </p:cNvPr>
          <p:cNvSpPr>
            <a:spLocks xmlns:a="http://schemas.openxmlformats.org/drawingml/2006/main" noGrp="1"/>
          </p:cNvSpPr>
          <p:nvPr/>
        </p:nvSpPr>
        <p:spPr>
          <a:xfrm xmlns:a="http://schemas.openxmlformats.org/drawingml/2006/main">
            <a:off x="2095500" y="3714750"/>
            <a:ext cx="2238375" cy="1190625"/>
          </a:xfrm>
          <a:prstGeom xmlns:a="http://schemas.openxmlformats.org/drawingml/2006/main" prst="roundRect">
            <a:avLst>
              <a:gd name="adj" fmla="val 6400"/>
            </a:avLst>
          </a:prstGeom>
          <a:solidFill xmlns:a="http://schemas.openxmlformats.org/drawingml/2006/main">
            <a:srgbClr val="16A085"/>
          </a:solidFill>
          <a:ln xmlns:a="http://schemas.openxmlformats.org/drawingml/2006/main" w="9525">
            <a:solidFill>
              <a:srgbClr val="16A085"/>
            </a:solidFill>
            <a:prstDash val="solid"/>
          </a:ln>
        </p:spPr>
        <p:txBody>
          <a:bodyPr xmlns:a="http://schemas.openxmlformats.org/drawingml/2006/main"/>
          <a:lstStyle xmlns:a="http://schemas.openxmlformats.org/drawingml/2006/main">
            <a:defPPr algn="ctr">
              <a:defRPr sz="1200" b="1">
                <a:solidFill>
                  <a:srgbClr val="FFFFFF"/>
                </a:solidFill>
                <a:latin typeface="Tahoma"/>
                <a:ea typeface="Tahoma"/>
                <a:cs typeface="Tahoma"/>
              </a:defRPr>
            </a:defPPr>
          </a:lstStyle>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Remediation Center</a:t>
            </a:r>
          </a:p>
          <a:p xmlns:a="http://schemas.openxmlformats.org/drawingml/2006/main">
            <a:r>
              <a:t/>
            </a:r>
          </a:p>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Copy guidance and re-scan</a:t>
            </a:r>
          </a:p>
        </p:txBody>
      </p:sp>
      <p:sp>
        <p:nvSpPr>
          <p:cNvPr id="7" name="">
            <a:extLst xmlns:a="http://schemas.openxmlformats.org/drawingml/2006/main">
              <a:ext uri="{FF2B5EF4-FFF2-40B4-BE49-F238E27FC236}">
                <a16:creationId xmlns:a16="http://schemas.microsoft.com/office/drawing/2014/main" id="{05CCC4AA-6858-4A06-95AB-97663EEE8E28}"/>
              </a:ext>
            </a:extLst>
          </p:cNvPr>
          <p:cNvSpPr>
            <a:spLocks xmlns:a="http://schemas.openxmlformats.org/drawingml/2006/main" noGrp="1"/>
          </p:cNvSpPr>
          <p:nvPr/>
        </p:nvSpPr>
        <p:spPr>
          <a:xfrm xmlns:a="http://schemas.openxmlformats.org/drawingml/2006/main">
            <a:off x="4810125" y="3714750"/>
            <a:ext cx="2238375" cy="1190625"/>
          </a:xfrm>
          <a:prstGeom xmlns:a="http://schemas.openxmlformats.org/drawingml/2006/main" prst="roundRect">
            <a:avLst>
              <a:gd name="adj" fmla="val 6400"/>
            </a:avLst>
          </a:prstGeom>
          <a:solidFill xmlns:a="http://schemas.openxmlformats.org/drawingml/2006/main">
            <a:srgbClr val="D35400"/>
          </a:solidFill>
          <a:ln xmlns:a="http://schemas.openxmlformats.org/drawingml/2006/main" w="9525">
            <a:solidFill>
              <a:srgbClr val="D35400"/>
            </a:solidFill>
            <a:prstDash val="solid"/>
          </a:ln>
        </p:spPr>
        <p:txBody>
          <a:bodyPr xmlns:a="http://schemas.openxmlformats.org/drawingml/2006/main"/>
          <a:lstStyle xmlns:a="http://schemas.openxmlformats.org/drawingml/2006/main">
            <a:defPPr algn="ctr">
              <a:defRPr sz="1200" b="1">
                <a:solidFill>
                  <a:srgbClr val="FFFFFF"/>
                </a:solidFill>
                <a:latin typeface="Tahoma"/>
                <a:ea typeface="Tahoma"/>
                <a:cs typeface="Tahoma"/>
              </a:defRPr>
            </a:defPPr>
          </a:lstStyle>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Research Metrics</a:t>
            </a:r>
          </a:p>
          <a:p xmlns:a="http://schemas.openxmlformats.org/drawingml/2006/main">
            <a:r>
              <a:t/>
            </a:r>
          </a:p>
          <a:p xmlns:a="http://schemas.openxmlformats.org/drawingml/2006/main">
            <a:pPr algn="ctr">
              <a:buNone/>
              <a:defRPr sz="1200" b="1">
                <a:solidFill>
                  <a:srgbClr val="FFFFFF"/>
                </a:solidFill>
                <a:latin typeface="Tahoma"/>
                <a:ea typeface="Tahoma"/>
                <a:cs typeface="Tahoma"/>
              </a:defRPr>
            </a:pPr>
            <a:r>
              <a:rPr sz="1200" b="1">
                <a:solidFill>
                  <a:srgbClr val="FFFFFF"/>
                </a:solidFill>
                <a:latin typeface="Tahoma"/>
                <a:ea typeface="Tahoma"/>
                <a:cs typeface="Tahoma"/>
              </a:rPr>
              <a:t>Inspect reproducible evidence</a:t>
            </a:r>
          </a:p>
        </p:txBody>
      </p:sp>
      <p:sp>
        <p:nvSpPr>
          <p:cNvPr id="8" name="">
            <a:extLst xmlns:a="http://schemas.openxmlformats.org/drawingml/2006/main">
              <a:ext uri="{FF2B5EF4-FFF2-40B4-BE49-F238E27FC236}">
                <a16:creationId xmlns:a16="http://schemas.microsoft.com/office/drawing/2014/main" id="{9FBD5BF4-E288-466F-B930-4370AD18C777}"/>
              </a:ext>
            </a:extLst>
          </p:cNvPr>
          <p:cNvSpPr>
            <a:spLocks xmlns:a="http://schemas.openxmlformats.org/drawingml/2006/main" noGrp="1"/>
          </p:cNvSpPr>
          <p:nvPr/>
        </p:nvSpPr>
        <p:spPr>
          <a:xfrm xmlns:a="http://schemas.openxmlformats.org/drawingml/2006/main">
            <a:off x="952500" y="5476875"/>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555555"/>
                </a:solidFill>
                <a:latin typeface="Tahoma"/>
                <a:ea typeface="Tahoma"/>
                <a:cs typeface="Tahoma"/>
              </a:defRPr>
            </a:defPPr>
          </a:lstStyle>
          <a:p xmlns:a="http://schemas.openxmlformats.org/drawingml/2006/main">
            <a:pPr algn="ctr">
              <a:buNone/>
              <a:defRPr sz="1050">
                <a:solidFill>
                  <a:srgbClr val="555555"/>
                </a:solidFill>
                <a:latin typeface="Tahoma"/>
                <a:ea typeface="Tahoma"/>
                <a:cs typeface="Tahoma"/>
              </a:defRPr>
            </a:pPr>
            <a:r>
              <a:rPr sz="1050">
                <a:solidFill>
                  <a:srgbClr val="555555"/>
                </a:solidFill>
                <a:latin typeface="Tahoma"/>
                <a:ea typeface="Tahoma"/>
                <a:cs typeface="Tahoma"/>
              </a:rPr>
              <a:t>Original editable visual summary of the implemented workflow; no external stock or AI-generated artwork is used.</a:t>
            </a:r>
          </a:p>
        </p:txBody>
      </p:sp>
    </p:spTree>
    <p:extLst>
      <p:ext uri="{BB962C8B-B14F-4D97-AF65-F5344CB8AC3E}">
        <p14:creationId xmlns:p14="http://schemas.microsoft.com/office/powerpoint/2010/main" val="5907078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97244A4-52A1-4892-8933-C2BA0C0D3F20}"/>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Implementation Details</a:t>
            </a:r>
          </a:p>
        </p:txBody>
      </p:sp>
      <p:sp>
        <p:nvSpPr>
          <p:cNvPr id="2" name="">
            <a:extLst xmlns:a="http://schemas.openxmlformats.org/drawingml/2006/main">
              <a:ext uri="{FF2B5EF4-FFF2-40B4-BE49-F238E27FC236}">
                <a16:creationId xmlns:a16="http://schemas.microsoft.com/office/drawing/2014/main" id="{752AA57A-09E9-4BF6-9DF1-7584B830279F}"/>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a:solidFill>
                  <a:srgbClr val="000000"/>
                </a:solidFill>
                <a:latin typeface="Tahoma"/>
                <a:ea typeface="Tahoma"/>
                <a:cs typeface="Tahoma"/>
              </a:defRPr>
            </a:defPPr>
          </a:lstStyle>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Frontend: browser-based upload, scan, repair preview, re-scan, and download of a repaired copy.</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Detection: source evidence maps to the five CloudGuard policy SIDs.</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Repair engine: deterministic edits change only known safe values and preserve the original source.</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Validation: the repaired source is scanned again and each target SID is marked cleared or still present.</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Deployment gate: a severity threshold returns ALLOW or BLOCK for a CI or pull-request check.</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Research package: Python modules, command-line scripts, tests, and documentation reproduce the repair and gate behavior.</a:t>
            </a:r>
          </a:p>
        </p:txBody>
      </p:sp>
    </p:spTree>
    <p:extLst>
      <p:ext uri="{BB962C8B-B14F-4D97-AF65-F5344CB8AC3E}">
        <p14:creationId xmlns:p14="http://schemas.microsoft.com/office/powerpoint/2010/main" val="2682435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E9F2C48-1554-4031-B09A-D0401473E1B8}"/>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Implementation Example</a:t>
            </a:r>
          </a:p>
        </p:txBody>
      </p:sp>
      <p:sp>
        <p:nvSpPr>
          <p:cNvPr id="2" name="">
            <a:extLst xmlns:a="http://schemas.openxmlformats.org/drawingml/2006/main">
              <a:ext uri="{FF2B5EF4-FFF2-40B4-BE49-F238E27FC236}">
                <a16:creationId xmlns:a16="http://schemas.microsoft.com/office/drawing/2014/main" id="{BEC834CB-59CC-4AE0-964A-B68B67FBA4DF}"/>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Input resource: aws_security_group.web</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Detected condition: ingress permits 0.0.0.0/0</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Result: CloudGuard keeps this case in manual review unless an approved CIDR or security-group reference is supplied.</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Safe example: publicly_accessible = true becomes publicly_accessible = false.</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Validation: re-scan the repaired copy before the deployment gate is evaluated.</a:t>
            </a:r>
          </a:p>
        </p:txBody>
      </p:sp>
    </p:spTree>
    <p:extLst>
      <p:ext uri="{BB962C8B-B14F-4D97-AF65-F5344CB8AC3E}">
        <p14:creationId xmlns:p14="http://schemas.microsoft.com/office/powerpoint/2010/main" val="142820427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EEB890B-C6B1-402D-987C-3C92AADD75B4}"/>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Decision Gate Workflow</a:t>
            </a:r>
          </a:p>
        </p:txBody>
      </p:sp>
      <p:sp>
        <p:nvSpPr>
          <p:cNvPr id="2" name="">
            <a:extLst xmlns:a="http://schemas.openxmlformats.org/drawingml/2006/main">
              <a:ext uri="{FF2B5EF4-FFF2-40B4-BE49-F238E27FC236}">
                <a16:creationId xmlns:a16="http://schemas.microsoft.com/office/drawing/2014/main" id="{DAFBD855-AAB5-45CA-903A-740538A779C3}"/>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Configuration uploaded</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Policy condition evaluated</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High or critical finding detected</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Safe deterministic fix available?</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Yes: create repaired copy and re-scan</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No: require manual review</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Remaining finding meets threshold?</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BLOCK deployment check</a:t>
            </a:r>
          </a:p>
          <a:p xmlns:a="http://schemas.openxmlformats.org/drawingml/2006/main">
            <a: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No blocking finding</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ALLOW to the next controlled CI step</a:t>
            </a:r>
          </a:p>
        </p:txBody>
      </p:sp>
    </p:spTree>
    <p:extLst>
      <p:ext uri="{BB962C8B-B14F-4D97-AF65-F5344CB8AC3E}">
        <p14:creationId xmlns:p14="http://schemas.microsoft.com/office/powerpoint/2010/main" val="129033681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D5006BC-2E5A-411B-B5AA-13B3832EC412}"/>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Domain and Tools Used</a:t>
            </a:r>
          </a:p>
        </p:txBody>
      </p:sp>
      <p:sp>
        <p:nvSpPr>
          <p:cNvPr id="2" name="">
            <a:extLst xmlns:a="http://schemas.openxmlformats.org/drawingml/2006/main">
              <a:ext uri="{FF2B5EF4-FFF2-40B4-BE49-F238E27FC236}">
                <a16:creationId xmlns:a16="http://schemas.microsoft.com/office/drawing/2014/main" id="{5A181435-329B-4B2C-BAAC-2495C0C3F5F1}"/>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a:solidFill>
                  <a:srgbClr val="000000"/>
                </a:solidFill>
                <a:latin typeface="Tahoma"/>
                <a:ea typeface="Tahoma"/>
                <a:cs typeface="Tahoma"/>
              </a:defRPr>
            </a:defPPr>
          </a:lstStyle>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Domain: cloud security, Infrastructure as Code, policy-violation detection, and explainable risk assessment.</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Input formats: AWS Terraform (.tf) and AWS CloudFormation (.yaml, .yml, .json).</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Application tools: browser-based CloudGuard interface, local file reader, deterministic policy rules, policy-SID mapping, heuristic scoring, findings dashboard, and remediation guidance.</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Research tools: Python reproduction scripts, CSV/JSON evidence files, Docker-based scanner runs where available, and GitHub for reproducibility artifacts.</a:t>
            </a:r>
          </a:p>
          <a:p xmlns:a="http://schemas.openxmlformats.org/drawingml/2006/main">
            <a:r>
              <a:t/>
            </a:r>
          </a:p>
          <a:p xmlns:a="http://schemas.openxmlformats.org/drawingml/2006/main">
            <a:pPr algn="l">
              <a:buNone/>
              <a:defRPr sz="1350">
                <a:solidFill>
                  <a:srgbClr val="000000"/>
                </a:solidFill>
                <a:latin typeface="Tahoma"/>
                <a:ea typeface="Tahoma"/>
                <a:cs typeface="Tahoma"/>
              </a:defRPr>
            </a:pPr>
            <a:r>
              <a:rPr sz="1350">
                <a:solidFill>
                  <a:srgbClr val="000000"/>
                </a:solidFill>
                <a:latin typeface="Tahoma"/>
                <a:ea typeface="Tahoma"/>
                <a:cs typeface="Tahoma"/>
              </a:rPr>
              <a:t>Scope boundary: no AWS deployment, no Helm/Kubernetes implementation, no automatic AST rewrite, and no human-participant study in the current evidence package.</a:t>
            </a:r>
          </a:p>
        </p:txBody>
      </p:sp>
    </p:spTree>
    <p:extLst>
      <p:ext uri="{BB962C8B-B14F-4D97-AF65-F5344CB8AC3E}">
        <p14:creationId xmlns:p14="http://schemas.microsoft.com/office/powerpoint/2010/main" val="171885081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3B65DC6-A8A5-49FA-A74F-EF0C7BE7BE1A}"/>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Current Project Evidence and Results</a:t>
            </a:r>
          </a:p>
        </p:txBody>
      </p:sp>
      <p:sp>
        <p:nvSpPr>
          <p:cNvPr id="2" name="">
            <a:extLst xmlns:a="http://schemas.openxmlformats.org/drawingml/2006/main">
              <a:ext uri="{FF2B5EF4-FFF2-40B4-BE49-F238E27FC236}">
                <a16:creationId xmlns:a16="http://schemas.microsoft.com/office/drawing/2014/main" id="{976E083C-77C0-40B9-A75D-A488E46AA7CD}"/>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Current evidence remains the 50-manifest project-team synthetic benchmark with 70 policy instances.</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r>
              <a:t>The new repair and deployment-gate code has implementation smoke tests: safe RDS repairs clear targeted findings, sensitive access cases remain manual, and a critical finding returns a blocking exit code.</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r>
              <a:t>These smoke tests demonstrate software behavior. They are not new conference benchmark results, baseline comparisons, or production deployment evidence.</a:t>
            </a:r>
          </a:p>
        </p:txBody>
      </p:sp>
    </p:spTree>
    <p:extLst>
      <p:ext uri="{BB962C8B-B14F-4D97-AF65-F5344CB8AC3E}">
        <p14:creationId xmlns:p14="http://schemas.microsoft.com/office/powerpoint/2010/main" val="11050219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F847BF1-CE8A-4918-A29C-ED847EE6CECA}"/>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Conclusion and Future Work</a:t>
            </a:r>
          </a:p>
        </p:txBody>
      </p:sp>
      <p:sp>
        <p:nvSpPr>
          <p:cNvPr id="2" name="">
            <a:extLst xmlns:a="http://schemas.openxmlformats.org/drawingml/2006/main">
              <a:ext uri="{FF2B5EF4-FFF2-40B4-BE49-F238E27FC236}">
                <a16:creationId xmlns:a16="http://schemas.microsoft.com/office/drawing/2014/main" id="{78D3A810-8840-460D-889A-57D487C760D1}"/>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000000"/>
                </a:solidFill>
                <a:latin typeface="Tahoma"/>
                <a:ea typeface="Tahoma"/>
                <a:cs typeface="Tahoma"/>
              </a:defRPr>
            </a:defPPr>
          </a:lstStyle>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CloudGuard now provides an upload-first AWS IaC workflow with explainable findings, deterministic repair for selected source patterns, re-scan validation, and a configurable ALLOW or BLOCK decision.</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r>
              <a:t>The implementation remains limited to Terraform and CloudFormation. It does not claim Helm or Kubernetes support, automatic repair of IAM intent, or actual AWS deployment control.</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
            </a:r>
          </a:p>
          <a:p xmlns:a="http://schemas.openxmlformats.org/drawingml/2006/main">
            <a:pPr algn="l">
              <a:buNone/>
              <a:defRPr sz="1425">
                <a:solidFill>
                  <a:srgbClr val="000000"/>
                </a:solidFill>
                <a:latin typeface="Tahoma"/>
                <a:ea typeface="Tahoma"/>
                <a:cs typeface="Tahoma"/>
              </a:defRPr>
            </a:pPr>
            <a:r>
              <a:rPr sz="1425">
                <a:solidFill>
                  <a:srgbClr val="000000"/>
                </a:solidFill>
                <a:latin typeface="Tahoma"/>
                <a:ea typeface="Tahoma"/>
                <a:cs typeface="Tahoma"/>
              </a:rPr>
              <a:t>Future evaluation should measure repair clearance, validation success, regression rate, gate latency, and behavior on independently sourced configurations.</a:t>
            </a:r>
          </a:p>
        </p:txBody>
      </p:sp>
    </p:spTree>
    <p:extLst>
      <p:ext uri="{BB962C8B-B14F-4D97-AF65-F5344CB8AC3E}">
        <p14:creationId xmlns:p14="http://schemas.microsoft.com/office/powerpoint/2010/main" val="13291050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248D788-F220-4F5D-A350-266B9FF92E0C}"/>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References I</a:t>
            </a:r>
          </a:p>
        </p:txBody>
      </p:sp>
      <p:sp>
        <p:nvSpPr>
          <p:cNvPr id="2" name="">
            <a:extLst xmlns:a="http://schemas.openxmlformats.org/drawingml/2006/main">
              <a:ext uri="{FF2B5EF4-FFF2-40B4-BE49-F238E27FC236}">
                <a16:creationId xmlns:a16="http://schemas.microsoft.com/office/drawing/2014/main" id="{C78C5F22-6BE7-41F0-BCC1-57DAD6F4222E}"/>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000000"/>
                </a:solidFill>
                <a:latin typeface="Tahoma"/>
                <a:ea typeface="Tahoma"/>
                <a:cs typeface="Tahoma"/>
              </a:defRPr>
            </a:defPPr>
          </a:lstStyle>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[1] Minna, F., Blaise, A., Tuma, K., and Massacci, F. (2026). Automated analysis of security policy violations in Helm charts. IEEE Transactions on Dependable and Secure Computing, 23(2), 2519-2533. https://doi.org/10.1109/TDSC.2025.3628213</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[2] Bridgecrew. (2024). Checkov documentation. https://www.checkov.io/</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[3] Checkmarx. (2024). KICS documentation. https://docs.kics.io/</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[4] Aqua Security. (2024). Trivy documentation. https://trivy.dev/</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[5] HashiCorp. (2024). Terraform documentation. https://developer.hashicorp.com/terraform/docs</a:t>
            </a:r>
          </a:p>
        </p:txBody>
      </p:sp>
    </p:spTree>
    <p:extLst>
      <p:ext uri="{BB962C8B-B14F-4D97-AF65-F5344CB8AC3E}">
        <p14:creationId xmlns:p14="http://schemas.microsoft.com/office/powerpoint/2010/main" val="127614029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10F2EB0-838E-4A7D-B4B0-97FE5181350B}"/>
              </a:ext>
            </a:extLst>
          </p:cNvPr>
          <p:cNvSpPr>
            <a:spLocks xmlns:a="http://schemas.openxmlformats.org/drawingml/2006/main" noGrp="1"/>
          </p:cNvSpPr>
          <p:nvPr/>
        </p:nvSpPr>
        <p:spPr>
          <a:xfrm xmlns:a="http://schemas.openxmlformats.org/drawingml/2006/main">
            <a:off x="457200" y="266700"/>
            <a:ext cx="822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250" b="1">
                <a:solidFill>
                  <a:srgbClr val="00B050"/>
                </a:solidFill>
                <a:latin typeface="Tahoma"/>
                <a:ea typeface="Tahoma"/>
                <a:cs typeface="Tahoma"/>
              </a:defRPr>
            </a:defPPr>
          </a:lstStyle>
          <a:p xmlns:a="http://schemas.openxmlformats.org/drawingml/2006/main">
            <a:pPr algn="ctr">
              <a:buNone/>
              <a:defRPr sz="2250" b="1">
                <a:solidFill>
                  <a:srgbClr val="00B050"/>
                </a:solidFill>
                <a:latin typeface="Tahoma"/>
                <a:ea typeface="Tahoma"/>
                <a:cs typeface="Tahoma"/>
              </a:defRPr>
            </a:pPr>
            <a:r>
              <a:rPr sz="2250" b="1">
                <a:solidFill>
                  <a:srgbClr val="00B050"/>
                </a:solidFill>
                <a:latin typeface="Tahoma"/>
                <a:ea typeface="Tahoma"/>
                <a:cs typeface="Tahoma"/>
              </a:rPr>
              <a:t>References II</a:t>
            </a:r>
          </a:p>
        </p:txBody>
      </p:sp>
      <p:sp>
        <p:nvSpPr>
          <p:cNvPr id="2" name="">
            <a:extLst xmlns:a="http://schemas.openxmlformats.org/drawingml/2006/main">
              <a:ext uri="{FF2B5EF4-FFF2-40B4-BE49-F238E27FC236}">
                <a16:creationId xmlns:a16="http://schemas.microsoft.com/office/drawing/2014/main" id="{9360F900-EE2C-4DB0-8BD3-2FCE7063412F}"/>
              </a:ext>
            </a:extLst>
          </p:cNvPr>
          <p:cNvSpPr>
            <a:spLocks xmlns:a="http://schemas.openxmlformats.org/drawingml/2006/main" noGrp="1"/>
          </p:cNvSpPr>
          <p:nvPr/>
        </p:nvSpPr>
        <p:spPr>
          <a:xfrm xmlns:a="http://schemas.openxmlformats.org/drawingml/2006/main">
            <a:off x="609600" y="1143000"/>
            <a:ext cx="792480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000000"/>
                </a:solidFill>
                <a:latin typeface="Tahoma"/>
                <a:ea typeface="Tahoma"/>
                <a:cs typeface="Tahoma"/>
              </a:defRPr>
            </a:defPPr>
          </a:lstStyle>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[6] Amazon Web Services. (2024). AWS CloudFormation user guide. https://docs.aws.amazon.com/cloudformation/</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[7] Amazon Web Services. (2024). AWS Well-Architected Framework: Security Pillar. https://docs.aws.amazon.com/wellarchitected/</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[8] National Institute of Standards and Technology. (2020). Security and privacy controls for information systems and organizations (SP 800-53 Rev. 5). https://doi.org/10.6028/NIST.SP.800-53r5</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[9] OWASP Foundation. (2024). Cloud-native application security guidance. https://owasp.org/</a:t>
            </a:r>
          </a:p>
          <a:p xmlns:a="http://schemas.openxmlformats.org/drawingml/2006/main">
            <a:r>
              <a:t/>
            </a:r>
          </a:p>
          <a:p xmlns:a="http://schemas.openxmlformats.org/drawingml/2006/main">
            <a:pPr algn="l">
              <a:buNone/>
              <a:defRPr sz="1275">
                <a:solidFill>
                  <a:srgbClr val="000000"/>
                </a:solidFill>
                <a:latin typeface="Tahoma"/>
                <a:ea typeface="Tahoma"/>
                <a:cs typeface="Tahoma"/>
              </a:defRPr>
            </a:pPr>
            <a:r>
              <a:rPr sz="1275">
                <a:solidFill>
                  <a:srgbClr val="000000"/>
                </a:solidFill>
                <a:latin typeface="Tahoma"/>
                <a:ea typeface="Tahoma"/>
                <a:cs typeface="Tahoma"/>
              </a:rPr>
              <a:t>[10] Amazon Web Services. (2024). IAM best practices. https://docs.aws.amazon.com/IAM/latest/UserGuide/best-practices.html</a:t>
            </a:r>
          </a:p>
        </p:txBody>
      </p:sp>
    </p:spTree>
    <p:extLst>
      <p:ext uri="{BB962C8B-B14F-4D97-AF65-F5344CB8AC3E}">
        <p14:creationId xmlns:p14="http://schemas.microsoft.com/office/powerpoint/2010/main" val="157609030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2026-10-02T19:57:18.5850000Z</dcterms:created>
  <dcterms:modified xsi:type="dcterms:W3CDTF">2026-10-02T19:57:18.5850000Z</dcterms:modified>
</coreProperties>
</file>